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312" r:id="rId2"/>
    <p:sldId id="313" r:id="rId3"/>
    <p:sldId id="314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267" r:id="rId17"/>
    <p:sldId id="284" r:id="rId18"/>
    <p:sldId id="302" r:id="rId19"/>
    <p:sldId id="276" r:id="rId20"/>
    <p:sldId id="303" r:id="rId21"/>
    <p:sldId id="304" r:id="rId22"/>
    <p:sldId id="285" r:id="rId23"/>
    <p:sldId id="327" r:id="rId24"/>
    <p:sldId id="299" r:id="rId25"/>
    <p:sldId id="328" r:id="rId26"/>
    <p:sldId id="330" r:id="rId27"/>
    <p:sldId id="331" r:id="rId28"/>
    <p:sldId id="339" r:id="rId48"/>
    <p:sldId id="332" r:id="rId29"/>
    <p:sldId id="333" r:id="rId30"/>
    <p:sldId id="334" r:id="rId31"/>
    <p:sldId id="335" r:id="rId32"/>
    <p:sldId id="336" r:id="rId33"/>
    <p:sldId id="337" r:id="rId34"/>
    <p:sldId id="329" r:id="rId35"/>
    <p:sldId id="305" r:id="rId36"/>
    <p:sldId id="269" r:id="rId37"/>
    <p:sldId id="308" r:id="rId38"/>
    <p:sldId id="309" r:id="rId39"/>
    <p:sldId id="273" r:id="rId40"/>
    <p:sldId id="261" r:id="rId41"/>
    <p:sldId id="338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1" autoAdjust="0"/>
  </p:normalViewPr>
  <p:slideViewPr>
    <p:cSldViewPr snapToGrid="0" snapToObjects="1">
      <p:cViewPr varScale="1">
        <p:scale>
          <a:sx n="78" d="100"/>
          <a:sy n="78" d="100"/>
        </p:scale>
        <p:origin x="1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slide" Target="slides/slide41.xml"/><Relationship Id="rId42" Type="http://schemas.openxmlformats.org/officeDocument/2006/relationships/slide" Target="slides/slide42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E314F-31EF-FD4F-BCEA-760C5D1A4D52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F877E2-E999-494E-9FBE-D531410972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5499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0:30. Frase-chave: 'Uma barreira operacional que faz o banco perder clientes, e como os agentes de IA a transformam em oportunidade.' O big number (≈ R$ 115 MM) é o business case validado: 313.783 clientes recuperados × R$ 366,62 de MOB; a premissa vem no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0:45. Frase-chave: 'Tudo o que vocês precisam para avaliar está num clique: o site no ar, o código, o manual para instalar do zero e a documentação técnica.' Os cartões são clicáveis no modo de apresentação. As senhas não aparecem no material: vão à banca em separado.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1:30. Frase-chave: 'Quem tem mais de 300 funcionários recebe uma equipe; quem tem menos faz sozinho no IB PJ e trava na validação.' Três pontos: a implantação assistida das grandes; o fluxo autônomo das menores (baixar o modelo, copiar do RH, preencher, travar); e o banco, que não engaja a folha na largada nem incentiva a empresa a comunicar a parceria aos funcionários.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1:30. Frase-chave: 'Hoje 50,4% das empresas desistem. Se a desistência cair para 20%, o banco recupera 313.783 clientes folha, e cada um rende R$ 366,62 a mais em 12 meses: cerca de R$ 115 milhões.' Diga a premissa em voz alta: o falso não folha cai na mesma proporção da desistência. É estimativa de potencial, não receita realizada (business case validado; não mudar sem a área).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1:30. Frase-chave: 'Para resolver, construímos o Integra Folha: a empresa manda a folha como tem, e os agentes de IA ajudam em dois momentos, no cadastro e na comunicação.' O primeiro momento resolve a eficiência do fluxo; o segundo resolve o engajamento, porque o banco gera, confere e publica os materiais que a empresa divulga (ADR-115).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2:00. Frase-chave: 'IA onde há ambiguidade, regra onde há certeza, humano onde há risco.' Os dois módulos: a empresa envia e resolve; o banco avalia, informa as contas e publica os materiais. As etiquetas mostram quem faz cada coisa. O nome certo é 'humano no circuito' (human in the loop): a decisão que importa é sempre de uma pessoa; o agente só propõe.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2:30. Frase-chave: 'Cada agente entra onde a regra não resolve, com uma missão e uma dor clara.' Percorra a jornada: a portaria (o guardrail) protege a entrada; na leitura, o Leitor e o Conferidor; nas colunas, o Interpretador; nas pendências, o Agente de validação; e, do lado do banco, o Endomarketing. Os botões levam à ficha de cada agente nos anexos (objetivo, funcionamento, guardrails, testes e técnicas).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2:00. Frase-chave: 'Uma máquina, três contêineres, e só o Caddy fala com a internet.' O desenho é o da página 'Integra Folha na AWS': a EC2 com o Caddy (https automático), a aplicação e o PostgreSQL sem porta para fora; o Bedrock com retenção zero e o detector de ataques; o backup no S3 que a máquina não consegue apagar; o alarme de orçamento; e o ambiente interno do banco sem conexão.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1:30. Frase-chave: 'A mesma imagem da aplicação, com as camadas do banco em volta.' Borda com CloudFront, WAF e Shield; identidade corporativa com MFA; contas separadas (processamento, segurança e integração); segredos no Secrets Manager com KMS; S3 por empresa; Bedrock pela PrivateLink; e o ambiente interno só por API específica, nunca direto ao Core Banking.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3:00. Frase-chave: 'Cada decisão saiu de uma medição, não de opinião.' O número principal é o do EXP-021: no arquivo padrão, a regra empata com a IA; fora do padrão, é a IA que faz o cadastro andar, de 0% para 100% das pessoas com os 4 obrigatórios certos, sem nenhum erro silencioso, por US$ 0,003 a 0,027 por funcionário. Cada 'Ver mais' leva ao detalhe nos anexos. Honestidade: o juiz do RAGAS é filtro, sem calibração humana (kappa 0,25 entre dois juízes de IA); o texto corrido muito difícil ainda falha (EXP-017).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Tempo: 2:00. Frase-</a:t>
            </a:r>
            <a:r>
              <a:rPr dirty="0" err="1"/>
              <a:t>chave</a:t>
            </a:r>
            <a:r>
              <a:rPr dirty="0"/>
              <a:t>: 'Cada </a:t>
            </a:r>
            <a:r>
              <a:rPr dirty="0" err="1"/>
              <a:t>tópico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 </a:t>
            </a:r>
            <a:r>
              <a:rPr dirty="0" err="1"/>
              <a:t>enunciado</a:t>
            </a:r>
            <a:r>
              <a:rPr dirty="0"/>
              <a:t> </a:t>
            </a:r>
            <a:r>
              <a:rPr dirty="0" err="1"/>
              <a:t>pede</a:t>
            </a:r>
            <a:r>
              <a:rPr dirty="0"/>
              <a:t> </a:t>
            </a:r>
            <a:r>
              <a:rPr dirty="0" err="1"/>
              <a:t>tem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resposta</a:t>
            </a:r>
            <a:r>
              <a:rPr dirty="0"/>
              <a:t> no </a:t>
            </a:r>
            <a:r>
              <a:rPr dirty="0" err="1"/>
              <a:t>sistema</a:t>
            </a:r>
            <a:r>
              <a:rPr dirty="0"/>
              <a:t>, e o </a:t>
            </a:r>
            <a:r>
              <a:rPr dirty="0" err="1"/>
              <a:t>detalhe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a um clique.' Prompts e </a:t>
            </a:r>
            <a:r>
              <a:rPr dirty="0" err="1"/>
              <a:t>orquestração</a:t>
            </a:r>
            <a:r>
              <a:rPr dirty="0"/>
              <a:t>: prompts </a:t>
            </a:r>
            <a:r>
              <a:rPr dirty="0" err="1"/>
              <a:t>versionados</a:t>
            </a:r>
            <a:r>
              <a:rPr dirty="0"/>
              <a:t>, </a:t>
            </a:r>
            <a:r>
              <a:rPr dirty="0" err="1"/>
              <a:t>LangGraph</a:t>
            </a:r>
            <a:r>
              <a:rPr dirty="0"/>
              <a:t> com pausa e </a:t>
            </a:r>
            <a:r>
              <a:rPr dirty="0" err="1"/>
              <a:t>retomada</a:t>
            </a:r>
            <a:r>
              <a:rPr dirty="0"/>
              <a:t>, </a:t>
            </a:r>
            <a:r>
              <a:rPr dirty="0" err="1"/>
              <a:t>formato</a:t>
            </a:r>
            <a:r>
              <a:rPr dirty="0"/>
              <a:t> </a:t>
            </a:r>
            <a:r>
              <a:rPr dirty="0" err="1"/>
              <a:t>garantido</a:t>
            </a:r>
            <a:r>
              <a:rPr dirty="0"/>
              <a:t> e </a:t>
            </a:r>
            <a:r>
              <a:rPr dirty="0" err="1"/>
              <a:t>contrato</a:t>
            </a:r>
            <a:r>
              <a:rPr dirty="0"/>
              <a:t>. Dados: </a:t>
            </a:r>
            <a:r>
              <a:rPr dirty="0" err="1"/>
              <a:t>sintéticos</a:t>
            </a:r>
            <a:r>
              <a:rPr dirty="0"/>
              <a:t>, com </a:t>
            </a:r>
            <a:r>
              <a:rPr dirty="0" err="1"/>
              <a:t>semente</a:t>
            </a:r>
            <a:r>
              <a:rPr dirty="0"/>
              <a:t> </a:t>
            </a:r>
            <a:r>
              <a:rPr dirty="0" err="1"/>
              <a:t>fixa</a:t>
            </a:r>
            <a:r>
              <a:rPr dirty="0"/>
              <a:t>, e o </a:t>
            </a:r>
            <a:r>
              <a:rPr dirty="0" err="1"/>
              <a:t>isolamento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empresa</a:t>
            </a:r>
            <a:r>
              <a:rPr dirty="0"/>
              <a:t>. RAG e </a:t>
            </a:r>
            <a:r>
              <a:rPr dirty="0" err="1"/>
              <a:t>avaliação</a:t>
            </a:r>
            <a:r>
              <a:rPr dirty="0"/>
              <a:t>: RAG para o </a:t>
            </a:r>
            <a:r>
              <a:rPr dirty="0" err="1"/>
              <a:t>conhecimento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muda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Fine-Tuning, e 22 </a:t>
            </a:r>
            <a:r>
              <a:rPr dirty="0" err="1"/>
              <a:t>experimentos</a:t>
            </a:r>
            <a:r>
              <a:rPr dirty="0"/>
              <a:t> com a </a:t>
            </a:r>
            <a:r>
              <a:rPr dirty="0" err="1"/>
              <a:t>prova</a:t>
            </a:r>
            <a:r>
              <a:rPr dirty="0"/>
              <a:t> </a:t>
            </a:r>
            <a:r>
              <a:rPr dirty="0" err="1"/>
              <a:t>congelada</a:t>
            </a:r>
            <a:r>
              <a:rPr dirty="0"/>
              <a:t>. </a:t>
            </a:r>
            <a:r>
              <a:rPr dirty="0" err="1"/>
              <a:t>Ética</a:t>
            </a:r>
            <a:r>
              <a:rPr dirty="0"/>
              <a:t> e </a:t>
            </a:r>
            <a:r>
              <a:rPr dirty="0" err="1"/>
              <a:t>privacidade</a:t>
            </a:r>
            <a:r>
              <a:rPr dirty="0"/>
              <a:t>: o Bedrock com </a:t>
            </a:r>
            <a:r>
              <a:rPr dirty="0" err="1"/>
              <a:t>retenção</a:t>
            </a:r>
            <a:r>
              <a:rPr dirty="0"/>
              <a:t> zero, o </a:t>
            </a:r>
            <a:r>
              <a:rPr dirty="0" err="1"/>
              <a:t>isolamento</a:t>
            </a:r>
            <a:r>
              <a:rPr dirty="0"/>
              <a:t>,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agregados</a:t>
            </a:r>
            <a:r>
              <a:rPr dirty="0"/>
              <a:t> e a </a:t>
            </a:r>
            <a:r>
              <a:rPr dirty="0" err="1"/>
              <a:t>minimização</a:t>
            </a:r>
            <a:r>
              <a:rPr dirty="0"/>
              <a:t> da LGPD. O </a:t>
            </a:r>
            <a:r>
              <a:rPr dirty="0" err="1"/>
              <a:t>botão</a:t>
            </a:r>
            <a:r>
              <a:rPr dirty="0"/>
              <a:t> '</a:t>
            </a:r>
            <a:r>
              <a:rPr dirty="0" err="1"/>
              <a:t>Aderência</a:t>
            </a:r>
            <a:r>
              <a:rPr dirty="0"/>
              <a:t> completa' </a:t>
            </a:r>
            <a:r>
              <a:rPr dirty="0" err="1"/>
              <a:t>abre</a:t>
            </a:r>
            <a:r>
              <a:rPr dirty="0"/>
              <a:t> a </a:t>
            </a:r>
            <a:r>
              <a:rPr dirty="0" err="1"/>
              <a:t>tabela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requisito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~35 min. Frase-chave: 'Agora, a ferramenta funcionando.' Trilha da empresa: um Word em texto corrido (data/avaliacao/prova_por_tipo/T6), as perguntas do Leitor e do Conferidor, a conferência dos 4 obrigatórios, uma pendência resolvida na conversa e o envio ao banco. Trilha do especialista: a avaliação por pessoa, o arquivo de contas abertas (cpf;status;agencia;conta;data_abertura), um material de endomarketing gerado e publicado e o Acompanhamento dos agentes. Plano B: a máquina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1:30. Frase-chave: 'A IA melhora em ciclo: ouvir quem usa, medir, ajustar e provar antes de publicar.' O joinha já está em cada resposta dos agentes (ADR-151) e a aceitação de cada agente já aparece no Acompanhamento dos agentes. Os indicadores da tabela fecham o ciclo. O resultado de negócio (a desistência) só se mede no piloto com empresas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Tempo: 0:45. Frase-chave: 'A empresa manda a folha como tem. O banco ganha o cliente folha.' Feche com os três números e abra para as perguntas. Os anexos têm o detalhe de cada decisão e de cada teste, com o botão 'Voltar'.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Os anexos não entram na fala principal: são o material de consulta para as perguntas da banca.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Tabela de apoio para perguntas: cada linha tem um ADR com as opções consideradas e como comprovamos. Exemplo pronto: o dicionário sem IA acerta 50,9% dos campos na prova inteira (53,4% na amostra de 30 usada para comparar os modelos), a régua que a IA precisa vencer.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Onde está a IA, e por que não em tudo. A pergunta de cada etapa é 'uma regra resolve?'. Perfil das colunas, regras, filtro por empresa, formato da coluna, reuso do mapeamento e padronização do documento são regra, sem custo de IA. A IA entra onde a regra falha, e o ganho é medido: nas colunas nunca vistas, o dicionário acerta 53% e a IA 83% (EXP-014); no texto corrido, regra nenhuma lê frases, e a IA chega a 99,5% no documento real (EXP-010).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Front e back. Saímos do Streamlit porque ele reexecuta a página inteira a cada clique e não permitia as telas do jeito do negócio. Não fomos para React porque exige build e dobra o esforço, e o foco do case é a IA. Ficamos com HTML, CSS e JavaScript puros servidos pela API FastAPI: a lógica já estava nos serviços, protegida pelos testes. O fluxo da empresa roda em LangGraph e salva um ponto por envio no PostgreSQL: a empresa sai e volta dias depois, do mesmo ponto (0 etapas refeitas em 26 retomadas). Segurança: porteiro por perfil em cada rota, senha provisória obrigatória de trocar e bloqueio depois de 5 tentativas.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Mensagem</a:t>
            </a:r>
            <a:r>
              <a:rPr dirty="0"/>
              <a:t> principal: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escolhemos</a:t>
            </a:r>
            <a:r>
              <a:rPr dirty="0"/>
              <a:t> o PostgreSQL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tamanho</a:t>
            </a:r>
            <a:r>
              <a:rPr dirty="0"/>
              <a:t>. 1,04 </a:t>
            </a:r>
            <a:r>
              <a:rPr dirty="0" err="1"/>
              <a:t>milhão</a:t>
            </a:r>
            <a:r>
              <a:rPr dirty="0"/>
              <a:t> de </a:t>
            </a:r>
            <a:r>
              <a:rPr dirty="0" err="1"/>
              <a:t>funcionários</a:t>
            </a:r>
            <a:r>
              <a:rPr dirty="0"/>
              <a:t> </a:t>
            </a:r>
            <a:r>
              <a:rPr dirty="0" err="1"/>
              <a:t>dá</a:t>
            </a:r>
            <a:r>
              <a:rPr dirty="0"/>
              <a:t> 2 a 3 GB,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até</a:t>
            </a:r>
            <a:r>
              <a:rPr dirty="0"/>
              <a:t> o SQLite </a:t>
            </a:r>
            <a:r>
              <a:rPr dirty="0" err="1"/>
              <a:t>guardaria</a:t>
            </a:r>
            <a:r>
              <a:rPr dirty="0"/>
              <a:t>. </a:t>
            </a:r>
            <a:r>
              <a:rPr dirty="0" err="1"/>
              <a:t>Escolhemos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uso</a:t>
            </a:r>
            <a:r>
              <a:rPr dirty="0"/>
              <a:t>: </a:t>
            </a:r>
            <a:r>
              <a:rPr dirty="0" err="1"/>
              <a:t>muitas</a:t>
            </a:r>
            <a:r>
              <a:rPr dirty="0"/>
              <a:t> </a:t>
            </a:r>
            <a:r>
              <a:rPr dirty="0" err="1"/>
              <a:t>empresas</a:t>
            </a:r>
            <a:r>
              <a:rPr dirty="0"/>
              <a:t> </a:t>
            </a:r>
            <a:r>
              <a:rPr dirty="0" err="1"/>
              <a:t>gravando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mesmo</a:t>
            </a:r>
            <a:r>
              <a:rPr dirty="0"/>
              <a:t> tempo,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indicadores</a:t>
            </a:r>
            <a:r>
              <a:rPr dirty="0"/>
              <a:t> </a:t>
            </a:r>
            <a:r>
              <a:rPr dirty="0" err="1"/>
              <a:t>lendo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as cargas, </a:t>
            </a:r>
            <a:r>
              <a:rPr dirty="0" err="1"/>
              <a:t>usuários</a:t>
            </a:r>
            <a:r>
              <a:rPr dirty="0"/>
              <a:t> e </a:t>
            </a:r>
            <a:r>
              <a:rPr dirty="0" err="1"/>
              <a:t>permissões</a:t>
            </a:r>
            <a:r>
              <a:rPr dirty="0"/>
              <a:t> no banco (a </a:t>
            </a:r>
            <a:r>
              <a:rPr dirty="0" err="1"/>
              <a:t>aplicação</a:t>
            </a:r>
            <a:r>
              <a:rPr dirty="0"/>
              <a:t> </a:t>
            </a:r>
            <a:r>
              <a:rPr dirty="0" err="1"/>
              <a:t>entra</a:t>
            </a:r>
            <a:r>
              <a:rPr dirty="0"/>
              <a:t>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poderes</a:t>
            </a:r>
            <a:r>
              <a:rPr dirty="0"/>
              <a:t> de </a:t>
            </a:r>
            <a:r>
              <a:rPr dirty="0" err="1"/>
              <a:t>administrador</a:t>
            </a:r>
            <a:r>
              <a:rPr dirty="0"/>
              <a:t>), </a:t>
            </a:r>
            <a:r>
              <a:rPr dirty="0" err="1"/>
              <a:t>réplica</a:t>
            </a:r>
            <a:r>
              <a:rPr dirty="0"/>
              <a:t> e </a:t>
            </a:r>
            <a:r>
              <a:rPr dirty="0" err="1"/>
              <a:t>recuperação</a:t>
            </a:r>
            <a:r>
              <a:rPr dirty="0"/>
              <a:t>, e o </a:t>
            </a:r>
            <a:r>
              <a:rPr dirty="0" err="1"/>
              <a:t>ecossistema</a:t>
            </a:r>
            <a:r>
              <a:rPr dirty="0"/>
              <a:t> de IA (</a:t>
            </a:r>
            <a:r>
              <a:rPr dirty="0" err="1"/>
              <a:t>pgvector</a:t>
            </a:r>
            <a:r>
              <a:rPr dirty="0"/>
              <a:t> e o checkpoint </a:t>
            </a:r>
            <a:r>
              <a:rPr dirty="0" err="1"/>
              <a:t>oficial</a:t>
            </a:r>
            <a:r>
              <a:rPr dirty="0"/>
              <a:t> do </a:t>
            </a:r>
            <a:r>
              <a:rPr dirty="0" err="1"/>
              <a:t>LangGraph</a:t>
            </a:r>
            <a:r>
              <a:rPr dirty="0"/>
              <a:t>), </a:t>
            </a:r>
            <a:r>
              <a:rPr dirty="0" err="1"/>
              <a:t>que</a:t>
            </a:r>
            <a:r>
              <a:rPr dirty="0"/>
              <a:t> é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desempata</a:t>
            </a:r>
            <a:r>
              <a:rPr dirty="0"/>
              <a:t> com o MariaDB. A </a:t>
            </a:r>
            <a:r>
              <a:rPr dirty="0" err="1"/>
              <a:t>mesma</a:t>
            </a:r>
            <a:r>
              <a:rPr dirty="0"/>
              <a:t> </a:t>
            </a:r>
            <a:r>
              <a:rPr dirty="0" err="1"/>
              <a:t>bateria</a:t>
            </a:r>
            <a:r>
              <a:rPr dirty="0"/>
              <a:t> de testes </a:t>
            </a:r>
            <a:r>
              <a:rPr dirty="0" err="1"/>
              <a:t>roda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dois</a:t>
            </a:r>
            <a:r>
              <a:rPr dirty="0"/>
              <a:t> </a:t>
            </a:r>
            <a:r>
              <a:rPr dirty="0" err="1"/>
              <a:t>bancos</a:t>
            </a:r>
            <a:r>
              <a:rPr dirty="0"/>
              <a:t> e </a:t>
            </a:r>
            <a:r>
              <a:rPr dirty="0" err="1"/>
              <a:t>achou</a:t>
            </a:r>
            <a:r>
              <a:rPr dirty="0"/>
              <a:t> 3 </a:t>
            </a:r>
            <a:r>
              <a:rPr dirty="0" err="1"/>
              <a:t>diferenças</a:t>
            </a:r>
            <a:r>
              <a:rPr dirty="0"/>
              <a:t> reais, </a:t>
            </a:r>
            <a:r>
              <a:rPr dirty="0" err="1"/>
              <a:t>corrigidas</a:t>
            </a:r>
            <a:r>
              <a:rPr dirty="0"/>
              <a:t> (ADR-67, EXP-009).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Por que o Bedrock. Nenhum filtro de dado garante 100%; o que dá para garantir é o destino do pedido. No Bedrock, o fornecedor do modelo não tem acesso aos pedidos e respostas, e fixamos o perfil EUA no código, pagando cerca de 10% a mais que o perfil global, que pode mandar o pedido a qualquer região. Descartamos os modelos que guardam os pedidos por até 30 dias, por proteção. A IA local não resolveu nesta máquina (11 minutos por planilha e 0 de 18 colunas). A retenção zero tem duas travas: o código recusa os modelos que retêm pedidos, e a conta AWS fixa a retenção zero. É a mesma confiança que o banco já dá à nuvem onde guarda os próprios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Como escolhemos os modelos. Primeiro a triagem com regra explícita: dos 27 modelos à venda, saem os de geração anterior e os caros demais (acima de US$ 4/20 por milhão de tokens). Depois, medição com dinheiro de verdade nas mesmas 30 planilhas da prova congelada. Pelas APIs diretas, o Sonnet 5 e o GPT-6 Luna venceram (EXP-008, ADR-11). Com a mudança para o Bedrock, a conta ainda não libera esses dois, e medimos o plano B (EXP-012 a 014): Sonnet 4.6 no papel grande, 82,9%, dentro da margem do Sonnet 5, pedindo ajuda em 100% das colunas certas; Nova 2 Lite no pequeno, 81,6%, da própria AWS, o mais rápido e a menos de 1 centavo por planilha. O formato garantido (esquema da resposta) levou o Nova de 31% para 79% na triagem. Resposta honesta: os primeiros quatro ficam dentro da margem de erro entre si. A amostra tem só os nomes das colunas; a medição com as amostras reais entra nos experimentos finais.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Por que não fizemos Fine-Tuning? Porque o que muda toda semana é conhecimento, e conhecimento que muda é RAG. Um campo novo no layout vale na hora, porque o índice é refeito quando o banco grava o parâmetro; com Fine-Tuning, seria treinar de novo. O catálogo de cada empresa é um filtro na busca; com Fine-Tuning, seria um modelo por empresa. O RAG cita a fonte, e o dado pessoal não entra no índice; um modelo treinado guarda o que viu, e esquecer um dado exige treinar de novo. Sem ajuste, a IA já sai de 53% para 84% nas colunas. Quando o ajuste passa a valer: volume muito alto, em que o custo por chamada pesa e um modelo pequeno ajustado responde mais barato e mais rápido; um modelo aberto dentro do banco, que o banco controla e pode ajustar; ou um formato de saída que o modelo erra sempre. Sempre junto com o RAG. O dataset de treino, com 1.500 planilhas, fica pronto. Base: ADR-80, que fecha o ADR-06.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Os prompts em uso e o que cada controle garante. A regra do projeto: o que protege fica no código, e não só no prompt (ex.: a conversa da pendência é presa ao campo e à linha dela; o valor lido é copiado do documento pelo código). Fontes: prompts/, agents/, docs/prompts.md, ADR-107, ADR-145, ADR-150, ADR-153.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Memória: a IA lembra só o necessário, fora do modelo. Curto prazo é o que vai em cada chamada; entre as etapas, o ponto de salvamento do LangGraph guarda só identificadores e contagens. Episódica: o último mapeamento aprovado da empresa (a inclusão não chama a IA) e os pares que o banco aprovou (ADR-70). Semântica: o layout, as regras e o catálogo no RAG, com filtro por empresa. Procedural: prompts versionados. Nenhuma conversa vira memória. Guardrails: se uma injeção passar, ela não consegue alterar dado, ver outra empresa nem inventar número. Cada controle tem teste: os 14 ataques do teste adversarial são barrados. Desde o ADR-101 a IA vê os dados reais, porque roda pelo Bedrock, sem o fornecedor ver os pedidos.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Responde ao tópico 'uso de dados da empresa fictícia: como são preparados, armazenados e utilizados'. Fontes: docs/dados.md, scripts/gerar_dados.py, scripts/gerar_cabecalhos.py, scripts/gerar_base_viva.py, ADR-21, ADR-37, ADR-101 e ADR-143. Os números: 1.500 cabeçalhos de treino e 300 de prova; 17 empresas na base viva.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Os 22 experimentos de docs/experimentos.md, na ordem em que aconteceram (o EXP-005 e o EXP-007 são do Consultor, que saiu no ADR-144: ficam como histórico). O detalhe de cada um (a pergunta, a amostra, a tabela, a leitura e a decisão) está no registro. O destaque é o EXP-021.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EXP-021 (docs/experimentos.md, commit c1e67c9; na main em 20dfadb). Limites ditos em voz alta: arquivos sintéticos dos geradores do projeto; o sem IA é o dicionário B0 de hoje (mantido à mão); 5 arquivos por tipo; o texto corrido desta prova é o teto (no EXP-017, o texto muito difícil deu 0 de 7 exatos). Sugestão registrada: reconhecer o padrão do banco sem chamar a IA (≈ US$ 0,10 por arquivo) e não deixar a dúvida de um opcional contaminar um obrigatório da mesma linha.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Interpretador resolve a ambiguidade dos nomes de coluna. Antes da IA, regra e reuso. O RAG traz o parâmetro do layout e os pares aprovados, que só entram na memória com 2 empresas confirmando (ADR-116). EXP-014: 82,9% com o Sonnet 4.6 × 53,4% do dicionário, só com os nomes das colunas; no EXP-021, com as amostras e pelo caminho da tela, 98,8% nos nomes próximos. O Sonnet 5 (84,4%, EXP-008) segue bloqueado na conta AWS: o plano B empata dentro da margem.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Leitor resolve o documento que não é planilha. A regra lê tabela e fichas; a IA entra só no texto corrido. EXP-021: 99,8% no texto simples ou variado e 98,9% no misturado, com 32 de 32 perguntas esperadas feitas e 44 de 44 armadilhas respeitadas. Honestidade: no lote guardado (EXP-017), o texto muito difícil deu 0 de 7 exatos, porque cada seção da pessoa virava uma linha; a correção (a junção depois da leitura, D39) está com o engenheiro de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Conferidor é a segunda opinião da leitura. A v1 perguntava demais (7 a 10 alarmes falsos nas armadilhas); a v2 só pergunta quando o documento dá outro valor para a mesma pessoa e o mesmo campo: 0 alarme falso, sem perder nenhum erro (EXP-016), reconfirmado no EXP-018 (um alarme novo, do telefone com e sem o +55, virou regra para o engenheiro de 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Agente de validação troca a validação que travava por uma conversa: a pergunta vem com o valor lido, a resposta é conferida com todas as regras na hora (ADR-153), o valor certo entra com Desfazer (ADR-118), pendências iguais viram uma pergunta só (ADR-120), e a conversa encerra depois de 3 respostas sem valor. O EXP-004 foi medido em modo simulado. Na operação, o joinha (ADR-151) e a aceitação por agente medem a qualidade de verdade.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banco gera, a empresa comunica (ADR-115): o risco era a empresa divulgar um benefício sem a validação do banco. EXP-019: 4.440 combinações; com a IA real, 28% das chamadas quebravam o JSON pelas aspas do catálogo, corrigido com o formato garantido no prompt v5 (ADR-150). EXP-020: fidelidade 0,87 pelo RAGAS com o juiz Mistral; o GPT achou 82% dos blocos inteiros, e nenhum inventa número, prazo, taxa ou condição. O juiz fica como filtro, sem calibração humana (ADR-152). Os materiais medidos são da v4.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EXP-019 (commit 3e29097) e EXP-020 (registro do cientista de dados, 30/09). No EXP-020, o juiz é o Mistral Large 3 (outra família que o gerador) e o segundo juiz é o GPT, fora da aplicação: todos os números comparam IAs entre si; nenhum rótulo foi feito por uma pessoa. Os 86 materiais são da v4; a v5 (ADR-150) ainda não foi medida.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Fontes: a página 'Integra Folha na AWS' (bateria de segurança rodada em 30/09: 151 testes, 105 passam, 46 achados conhecidos, 0 falhas inesperadas), docs/testes_de_seguranca.md, docs/seguranca.md, ADR-147 e a nota 'Teste do detector de ataques - 2026-09-30' (11 de 11 ataques, 10 técnicas; 0 falso alarme em 4 mensagens legítimas; amostra pequena). Achado conhecido = o teste já escrito, marcado para valer sozinho quando a correção entrar.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história da privacidade, em cinco passos. Começamos com as APIs diretas, em que o fornecedor recebe o pedido. Veio a preocupação com dado de funcionário saindo do banco, e tentamos etiquetas e máscara: custaram cerca de 7 pontos de acerto no texto misturado (91,3% × 98,9%, EXP-010) e não garantiam 100%: nome grudado ('MariaSouza'), nome em minúsculas e CPF por extenso passavam. Testamos a IA local: o dado não sai, mas levou 11 minutos por planilha e acertou 0 de 18 colunas nesta máquina (EXP-011). A saída foi mudar o destino: no Bedrock o fornecedor não vê os pedidos, o perfil é fixo nos EUA e os modelos que guardam pedidos ficam de fora; então a IA pode ver o dado real (ADR-101). Continuam valendo o isolamento, o registro de acesso, os agregados e o guardrail. A empresa vê a conta de cada funcionário para pagar o salário (ADR-102), com base no consentimento dado na abertura da conta: premissa para o jurídico, junto com a transferência internacional.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ponto mais sensível é a finalidade. O contrato banco × empresa autoriza o vínculo e a análise de risco; oferta ativa só para correntista com autorização dada na abertura da conta. Desde o ADR-101 a IA vê os dados reais, porque roda pelo Bedrock: o que protege é o destino do dado, o isolamento entre empresas e o registro de acesso. Campos sensíveis ficam fora do motor; renda atípica é alerta, não acusação; os números vêm das regras, nunca da IA. Minimização (ADR-143): quando a IA fica em dúvida entre campos opcionais, o valor fica com a pessoa, sem rótulo, fora das grades, dos cálculos e das análises; uma coluna que o parâmetro não prevê (ex.: religião) é descartada. A frase: 'a ferramenta não perde informação e aprende com o uso, sem guardar o que não tem finalidade'.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custo por ano para cadastrar 1,1 milhão de funcionários, premissa de pior cenário a validar com o negócio. Três cenários. Típico: 90% chega em planilha ou fichas e é lido por regra; a IA só entra no texto corrido e nas colunas novas: cerca de US$ 16 mil por ano. Pior cenário: todo mundo chega em texto corrido, com uma releitura, e nenhuma inclusão reaproveita o mapeamento: cerca de US$ 110 mil de IA (Leitor 55 mil, Interpretador 23 mil, agentes 23 mil, Conferidor 1 mil) e US$ 7,5 mil de nuvem, cerca de US$ 120 mil ou R$ 0,66 milhão por ano, R$ 0,60 por funcionário. Teto teórico: o custo mais alto já medido aplicado em tudo, cerca de US$ 290 mil. Preços oficiais da AWS em us-east-1 (set/2026), câmbio de R$ 5,50. Riscos: o Leitor foi medido com a geração anterior; o Consultor saiu (ADR-144); o Endomarketing foi medido depois a ≈ US$ 0,025 por chamada (EXP-019) e o texto corrido a US$ 0,020 a 0,027 por funcionário (EXP-021); em São Paulo a nuvem custaria cerca do dobro e um ambiente de homologação dobraria a linha de nuvem.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Custo contra retorno. O pior cenário, cerca de R$ 0,66 milhão por ano, é 0,6% da oportunidade de R$ 115 milhões em 12 meses: para cada real de IA e nuvem, cerca de R$ 170 de potencial. E há alavancas medidas ou oferecidas pela AWS: o Nova 2 Lite no Interpretador corta 85% perdendo 1,3 ponto; o modo em lote do Bedrock custa metade, bom para a carga inicial; o cache de prompt barateia em 90% a parte fixa (layout, regras); a inclusão com as mesmas colunas já custa zero. Com volume muito alto, um modelo aberto numa GPU do banco (gpt-oss-120b numa H100, cerca de US$ 30 mil por ano) passa a valer acima de US$ 30 mil por ano de IA, depois de medido. Lembrar: retorno é estimativa de potencial, não receita realizada.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Exigência do enunciado: plano de implementação, desafios e melhorias. Em cima, como a solução foi construída: 15 fases em 4 blocos, cada fase testada antes da seguinte. Embaixo, o caminho até produção no banco, com o desafio de cada etapa. Fechar retomando o big number e a tese.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Separar o que o MVP prova do que fica para produção. Carga inicial uma vez, depois só inclusões (o tipo é automático). O motor planeja com números agregados, nunca gera ofertas nem listas de pessoas. Dados sintéticos com seed fixa tornam a demo reprodutível e evitam qualquer exposição de dados pessoais.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enunciado pede: a solução funcional; a documentação (explicação do case, instruções de execução ou link, desenho da arquitetura, decisões e trade-offs, próximos passos); a justificativa tecnológica; a reprodutibilidade (scripts no Git e instruções para outra máquina); e a apresentação com a solução funcionando. Os números dos slides desta tabela são atualizados na montagem.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Frase-chave: 'O custo da IA não cresce com o arquivo: 1 chamada, de 1.000 a 10.000 linhas.' EXP-022 (docs/experimentos.md, 30/09), em MOCK: a IA simulada, nenhuma chamada real; SQLite temporário; o notebook do projeto (i5-9300H, 16 GB). 5 arquivos de 11 previstos (medição interrompida): ficaram sem medir o XLSX de 10.000, os de 20.000 linhas e os documentos (Word e PDF). O 1º arquivo inclui o aquecimento do processo. O teto que aparece primeiro é o do envio (5 MB): pela conta, sem medir, ≈ 11 mil linhas num CSV com as 44 colunas. Decisão: recomendar o CSV para as cargas grandes; a evolução é o processamento em lotes.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hyperlink" Target="https://integrafolha.com.br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integrafolha.com.br" TargetMode="External"/><Relationship Id="rId4" Type="http://schemas.openxmlformats.org/officeDocument/2006/relationships/image" Target="../media/image4.png"/><Relationship Id="rId5" Type="http://schemas.openxmlformats.org/officeDocument/2006/relationships/hyperlink" Target="https://github.com/josioumara/integra-folha" TargetMode="External"/><Relationship Id="rId6" Type="http://schemas.openxmlformats.org/officeDocument/2006/relationships/image" Target="../media/image5.png"/><Relationship Id="rId7" Type="http://schemas.openxmlformats.org/officeDocument/2006/relationships/hyperlink" Target="https://github.com/josioumara/integra-folha/blob/main/MANUAL_DE_INSTALACAO_E_ACESSO.md" TargetMode="External"/><Relationship Id="rId8" Type="http://schemas.openxmlformats.org/officeDocument/2006/relationships/image" Target="../media/image6.png"/><Relationship Id="rId9" Type="http://schemas.openxmlformats.org/officeDocument/2006/relationships/hyperlink" Target="https://github.com/josioumara/integra-folha/tree/main/docs" TargetMode="External"/><Relationship Id="rId10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hyperlink" Target="https://integrafolha.com.br" TargetMode="External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slide" Target="slide35.xml"/><Relationship Id="rId5" Type="http://schemas.openxmlformats.org/officeDocument/2006/relationships/image" Target="../media/image14.png"/><Relationship Id="rId6" Type="http://schemas.openxmlformats.org/officeDocument/2006/relationships/image" Target="../media/image7.png"/><Relationship Id="rId7" Type="http://schemas.openxmlformats.org/officeDocument/2006/relationships/slide" Target="slide30.xml"/><Relationship Id="rId8" Type="http://schemas.openxmlformats.org/officeDocument/2006/relationships/image" Target="../media/image15.png"/><Relationship Id="rId9" Type="http://schemas.openxmlformats.org/officeDocument/2006/relationships/slide" Target="slide31.xml"/><Relationship Id="rId10" Type="http://schemas.openxmlformats.org/officeDocument/2006/relationships/image" Target="../media/image16.png"/><Relationship Id="rId11" Type="http://schemas.openxmlformats.org/officeDocument/2006/relationships/slide" Target="slide29.xml"/><Relationship Id="rId12" Type="http://schemas.openxmlformats.org/officeDocument/2006/relationships/image" Target="../media/image17.png"/><Relationship Id="rId13" Type="http://schemas.openxmlformats.org/officeDocument/2006/relationships/slide" Target="slide32.xml"/><Relationship Id="rId14" Type="http://schemas.openxmlformats.org/officeDocument/2006/relationships/image" Target="../media/image10.png"/><Relationship Id="rId15" Type="http://schemas.openxmlformats.org/officeDocument/2006/relationships/slide" Target="slide3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slide" Target="slide27.xml"/><Relationship Id="rId4" Type="http://schemas.openxmlformats.org/officeDocument/2006/relationships/image" Target="../media/image14.png"/><Relationship Id="rId5" Type="http://schemas.openxmlformats.org/officeDocument/2006/relationships/slide" Target="slide21.xml"/><Relationship Id="rId6" Type="http://schemas.openxmlformats.org/officeDocument/2006/relationships/slide" Target="slide30.xml"/><Relationship Id="rId7" Type="http://schemas.openxmlformats.org/officeDocument/2006/relationships/slide" Target="slide31.xml"/><Relationship Id="rId8" Type="http://schemas.openxmlformats.org/officeDocument/2006/relationships/slide" Target="slide34.xml"/><Relationship Id="rId9" Type="http://schemas.openxmlformats.org/officeDocument/2006/relationships/slide" Target="slide35.xml"/><Relationship Id="rId10" Type="http://schemas.openxmlformats.org/officeDocument/2006/relationships/slide" Target="slide2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slide" Target="slide42.xml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slide" Target="slide23.xml"/><Relationship Id="rId7" Type="http://schemas.openxmlformats.org/officeDocument/2006/relationships/image" Target="../media/image14.png"/><Relationship Id="rId8" Type="http://schemas.openxmlformats.org/officeDocument/2006/relationships/image" Target="../media/image22.png"/><Relationship Id="rId9" Type="http://schemas.openxmlformats.org/officeDocument/2006/relationships/slide" Target="slide25.xml"/><Relationship Id="rId10" Type="http://schemas.openxmlformats.org/officeDocument/2006/relationships/image" Target="../media/image16.png"/><Relationship Id="rId11" Type="http://schemas.openxmlformats.org/officeDocument/2006/relationships/slide" Target="slide22.xml"/><Relationship Id="rId12" Type="http://schemas.openxmlformats.org/officeDocument/2006/relationships/image" Target="../media/image23.png"/><Relationship Id="rId13" Type="http://schemas.openxmlformats.org/officeDocument/2006/relationships/slide" Target="slide3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integrafolha.com.br" TargetMode="External"/><Relationship Id="rId4" Type="http://schemas.openxmlformats.org/officeDocument/2006/relationships/image" Target="../media/image24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1.png"/><Relationship Id="rId6" Type="http://schemas.openxmlformats.org/officeDocument/2006/relationships/image" Target="../media/image3.png"/><Relationship Id="rId7" Type="http://schemas.openxmlformats.org/officeDocument/2006/relationships/image" Target="../media/image27.png"/><Relationship Id="rId8" Type="http://schemas.openxmlformats.org/officeDocument/2006/relationships/slide" Target="slide40.xml"/><Relationship Id="rId9" Type="http://schemas.openxmlformats.org/officeDocument/2006/relationships/image" Target="../media/image14.png"/><Relationship Id="rId10" Type="http://schemas.openxmlformats.org/officeDocument/2006/relationships/slide" Target="slide3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integrafolha.com.br" TargetMode="External"/><Relationship Id="rId4" Type="http://schemas.openxmlformats.org/officeDocument/2006/relationships/hyperlink" Target="https://github.com/josioumara/integra-folha" TargetMode="External"/><Relationship Id="rId5" Type="http://schemas.openxmlformats.org/officeDocument/2006/relationships/slide" Target="slide15.xml"/><Relationship Id="rId6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slide" Target="slide16.xml"/><Relationship Id="rId4" Type="http://schemas.openxmlformats.org/officeDocument/2006/relationships/slide" Target="slide17.xml"/><Relationship Id="rId5" Type="http://schemas.openxmlformats.org/officeDocument/2006/relationships/slide" Target="slide18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1.xml"/><Relationship Id="rId9" Type="http://schemas.openxmlformats.org/officeDocument/2006/relationships/slide" Target="slide22.xml"/><Relationship Id="rId10" Type="http://schemas.openxmlformats.org/officeDocument/2006/relationships/slide" Target="slide23.xml"/><Relationship Id="rId11" Type="http://schemas.openxmlformats.org/officeDocument/2006/relationships/slide" Target="slide24.xml"/><Relationship Id="rId12" Type="http://schemas.openxmlformats.org/officeDocument/2006/relationships/slide" Target="slide25.xml"/><Relationship Id="rId13" Type="http://schemas.openxmlformats.org/officeDocument/2006/relationships/slide" Target="slide26.xml"/><Relationship Id="rId14" Type="http://schemas.openxmlformats.org/officeDocument/2006/relationships/slide" Target="slide27.xml"/><Relationship Id="rId15" Type="http://schemas.openxmlformats.org/officeDocument/2006/relationships/slide" Target="slide29.xml"/><Relationship Id="rId16" Type="http://schemas.openxmlformats.org/officeDocument/2006/relationships/slide" Target="slide30.xml"/><Relationship Id="rId17" Type="http://schemas.openxmlformats.org/officeDocument/2006/relationships/slide" Target="slide31.xml"/><Relationship Id="rId18" Type="http://schemas.openxmlformats.org/officeDocument/2006/relationships/slide" Target="slide32.xml"/><Relationship Id="rId19" Type="http://schemas.openxmlformats.org/officeDocument/2006/relationships/slide" Target="slide33.xml"/><Relationship Id="rId20" Type="http://schemas.openxmlformats.org/officeDocument/2006/relationships/slide" Target="slide34.xml"/><Relationship Id="rId21" Type="http://schemas.openxmlformats.org/officeDocument/2006/relationships/slide" Target="slide35.xml"/><Relationship Id="rId22" Type="http://schemas.openxmlformats.org/officeDocument/2006/relationships/slide" Target="slide36.xml"/><Relationship Id="rId23" Type="http://schemas.openxmlformats.org/officeDocument/2006/relationships/slide" Target="slide37.xml"/><Relationship Id="rId24" Type="http://schemas.openxmlformats.org/officeDocument/2006/relationships/slide" Target="slide38.xml"/><Relationship Id="rId25" Type="http://schemas.openxmlformats.org/officeDocument/2006/relationships/slide" Target="slide39.xml"/><Relationship Id="rId26" Type="http://schemas.openxmlformats.org/officeDocument/2006/relationships/slide" Target="slide40.xml"/><Relationship Id="rId27" Type="http://schemas.openxmlformats.org/officeDocument/2006/relationships/slide" Target="slide41.xml"/><Relationship Id="rId28" Type="http://schemas.openxmlformats.org/officeDocument/2006/relationships/slide" Target="slide42.xml"/><Relationship Id="rId29" Type="http://schemas.openxmlformats.org/officeDocument/2006/relationships/slide" Target="slide2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slide" Target="slide15.xml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slide" Target="slide15.xml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slide" Target="slide15.xml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slide" Target="slide15.xml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slide" Target="slide15.xml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slide" Target="slide15.xml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slide" Target="slide15.xml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slide" Target="slide15.xml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15.png"/><Relationship Id="rId8" Type="http://schemas.openxmlformats.org/officeDocument/2006/relationships/image" Target="../media/image31.png"/><Relationship Id="rId9" Type="http://schemas.openxmlformats.org/officeDocument/2006/relationships/slide" Target="slide15.xml"/><Relationship Id="rId10" Type="http://schemas.openxmlformats.org/officeDocument/2006/relationships/image" Target="../media/image20.png"/><Relationship Id="rId11" Type="http://schemas.openxmlformats.org/officeDocument/2006/relationships/image" Target="../media/image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Relationship Id="rId4" Type="http://schemas.openxmlformats.org/officeDocument/2006/relationships/image" Target="../media/image32.png"/><Relationship Id="rId5" Type="http://schemas.openxmlformats.org/officeDocument/2006/relationships/image" Target="../media/image21.png"/><Relationship Id="rId6" Type="http://schemas.openxmlformats.org/officeDocument/2006/relationships/slide" Target="slide15.xml"/><Relationship Id="rId7" Type="http://schemas.openxmlformats.org/officeDocument/2006/relationships/image" Target="../media/image20.png"/><Relationship Id="rId8" Type="http://schemas.openxmlformats.org/officeDocument/2006/relationships/image" Target="../media/image2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slide" Target="slide15.xml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slide" Target="slide15.xml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0.png"/><Relationship Id="rId4" Type="http://schemas.openxmlformats.org/officeDocument/2006/relationships/image" Target="../media/image28.png"/><Relationship Id="rId5" Type="http://schemas.openxmlformats.org/officeDocument/2006/relationships/slide" Target="slide1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Relationship Id="rId4" Type="http://schemas.openxmlformats.org/officeDocument/2006/relationships/slide" Target="slide15.xml"/><Relationship Id="rId5" Type="http://schemas.openxmlformats.org/officeDocument/2006/relationships/image" Target="../media/image20.png"/><Relationship Id="rId6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slide" Target="slide15.xml"/><Relationship Id="rId5" Type="http://schemas.openxmlformats.org/officeDocument/2006/relationships/image" Target="../media/image20.png"/><Relationship Id="rId6" Type="http://schemas.openxmlformats.org/officeDocument/2006/relationships/image" Target="../media/image2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Relationship Id="rId4" Type="http://schemas.openxmlformats.org/officeDocument/2006/relationships/slide" Target="slide15.xml"/><Relationship Id="rId5" Type="http://schemas.openxmlformats.org/officeDocument/2006/relationships/image" Target="../media/image20.png"/><Relationship Id="rId6" Type="http://schemas.openxmlformats.org/officeDocument/2006/relationships/image" Target="../media/image2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Relationship Id="rId4" Type="http://schemas.openxmlformats.org/officeDocument/2006/relationships/slide" Target="slide15.xml"/><Relationship Id="rId5" Type="http://schemas.openxmlformats.org/officeDocument/2006/relationships/image" Target="../media/image20.png"/><Relationship Id="rId6" Type="http://schemas.openxmlformats.org/officeDocument/2006/relationships/image" Target="../media/image2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slide" Target="slide15.xml"/><Relationship Id="rId5" Type="http://schemas.openxmlformats.org/officeDocument/2006/relationships/image" Target="../media/image20.png"/><Relationship Id="rId6" Type="http://schemas.openxmlformats.org/officeDocument/2006/relationships/image" Target="../media/image2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slide" Target="slide15.xml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slide" Target="slide15.xml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slide" Target="slide15.xml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slide" Target="slide15.xml"/><Relationship Id="rId10" Type="http://schemas.openxmlformats.org/officeDocument/2006/relationships/image" Target="../media/image20.png"/><Relationship Id="rId11" Type="http://schemas.openxmlformats.org/officeDocument/2006/relationships/image" Target="../media/image2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slide" Target="slide15.xml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slide" Target="slide15.xml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slide" Target="slide15.xml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slide" Target="slide15.xml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slide" Target="slide15.xml"/><Relationship Id="rId4" Type="http://schemas.openxmlformats.org/officeDocument/2006/relationships/image" Target="../media/image20.png"/><Relationship Id="rId5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686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7FC4B8"/>
                </a:solidFill>
                <a:latin typeface="Calibri"/>
              </a:rPr>
              <a:t>CASE DATA MASTER  ·  ENGENHARIA DE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7665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mbria"/>
              </a:rPr>
              <a:t>Integra Folha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95728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CFE3DF"/>
                </a:solidFill>
                <a:latin typeface="Calibri"/>
              </a:rPr>
              <a:t>Agentes de IA que transformam a folha que a empresa já tem em clientes folha para o banco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886200"/>
            <a:ext cx="566928" cy="566928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lanil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4033601"/>
            <a:ext cx="272125" cy="272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57200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 arquivo como a empresa tem</a:t>
            </a:r>
          </a:p>
          <a:p>
            <a:pPr algn="l"/>
            <a:r>
              <a:rPr sz="1100" b="0" i="0">
                <a:solidFill>
                  <a:srgbClr val="CFE3DF"/>
                </a:solidFill>
                <a:latin typeface="Calibri"/>
              </a:rPr>
              <a:t>Excel, CSV ou Word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61872" y="4169663"/>
            <a:ext cx="1389888" cy="0"/>
          </a:xfrm>
          <a:prstGeom prst="line">
            <a:avLst/>
          </a:prstGeom>
          <a:ln w="19050">
            <a:solidFill>
              <a:srgbClr val="7FC4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788920" y="3886200"/>
            <a:ext cx="566928" cy="566928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ob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6321" y="4033601"/>
            <a:ext cx="272125" cy="2721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88920" y="457200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Agentes de IA</a:t>
            </a:r>
          </a:p>
          <a:p>
            <a:pPr algn="l"/>
            <a:r>
              <a:rPr sz="1100" b="0" i="0">
                <a:solidFill>
                  <a:srgbClr val="CFE3DF"/>
                </a:solidFill>
                <a:latin typeface="Calibri"/>
              </a:rPr>
              <a:t>leem, entendem e conferem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02152" y="4169663"/>
            <a:ext cx="1389888" cy="0"/>
          </a:xfrm>
          <a:prstGeom prst="line">
            <a:avLst/>
          </a:prstGeom>
          <a:ln w="19050">
            <a:solidFill>
              <a:srgbClr val="7FC4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029200" y="3886200"/>
            <a:ext cx="566928" cy="566928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6601" y="4033601"/>
            <a:ext cx="272125" cy="2721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0" y="4572000"/>
            <a:ext cx="2148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Cadastro no padrão do banco</a:t>
            </a:r>
          </a:p>
          <a:p>
            <a:pPr algn="l"/>
            <a:r>
              <a:rPr sz="1100" b="0" i="0">
                <a:solidFill>
                  <a:srgbClr val="CFE3DF"/>
                </a:solidFill>
                <a:latin typeface="Calibri"/>
              </a:rPr>
              <a:t>com uma pessoa decidindo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960120"/>
            <a:ext cx="4005072" cy="3246120"/>
          </a:xfrm>
          <a:prstGeom prst="roundRect">
            <a:avLst>
              <a:gd name="adj" fmla="val 3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09560" y="12344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7FC4B8"/>
                </a:solidFill>
                <a:latin typeface="Calibri"/>
              </a:rPr>
              <a:t>OPORTUNIDADE EM 12 MESES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1600200"/>
            <a:ext cx="35661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mbria"/>
              </a:rPr>
              <a:t>≈ R$ 115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651760"/>
            <a:ext cx="3474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313.783</a:t>
            </a:r>
            <a:r>
              <a:rPr sz="1300" b="0" i="0">
                <a:solidFill>
                  <a:srgbClr val="CFE3DF"/>
                </a:solidFill>
                <a:latin typeface="Calibri"/>
              </a:rPr>
              <a:t> clientes folha recuperados ×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R$ 366,62</a:t>
            </a:r>
            <a:r>
              <a:rPr sz="1300" b="0" i="0">
                <a:solidFill>
                  <a:srgbClr val="CFE3DF"/>
                </a:solidFill>
                <a:latin typeface="Calibri"/>
              </a:rPr>
              <a:t> de MOB por cliente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352044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FC4B8"/>
                </a:solidFill>
                <a:latin typeface="Calibri"/>
              </a:rPr>
              <a:t>Estimativa de potencial, não receita realizada. Premissas no slide 04.</a:t>
            </a:r>
          </a:p>
        </p:txBody>
      </p:sp>
      <p:sp>
        <p:nvSpPr>
          <p:cNvPr id="21" name="TextBox 20">
            <a:hlinkClick r:id="rId6"/>
          </p:cNvPr>
          <p:cNvSpPr txBox="1"/>
          <p:nvPr/>
        </p:nvSpPr>
        <p:spPr>
          <a:xfrm>
            <a:off x="548640" y="59893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integrafolha.com.br</a:t>
            </a:r>
            <a:r>
              <a:rPr sz="1100" b="0" i="0">
                <a:solidFill>
                  <a:srgbClr val="CFE3DF"/>
                </a:solidFill>
                <a:latin typeface="Calibri"/>
              </a:rPr>
              <a:t>   ·   Apresentação executiva   ·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 ENTREGA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Tudo o que a banca precisa, a um clique</a:t>
            </a:r>
          </a:p>
        </p:txBody>
      </p:sp>
      <p:sp>
        <p:nvSpPr>
          <p:cNvPr id="4" name="Rounded Rectangle 3">
            <a:hlinkClick r:id="rId3"/>
          </p:cNvPr>
          <p:cNvSpPr/>
          <p:nvPr/>
        </p:nvSpPr>
        <p:spPr>
          <a:xfrm>
            <a:off x="548640" y="1508760"/>
            <a:ext cx="5486400" cy="141732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1783080"/>
            <a:ext cx="658368" cy="658368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glob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15" y="1954255"/>
            <a:ext cx="316016" cy="316016"/>
          </a:xfrm>
          <a:prstGeom prst="rect">
            <a:avLst/>
          </a:prstGeom>
        </p:spPr>
      </p:pic>
      <p:sp>
        <p:nvSpPr>
          <p:cNvPr id="7" name="TextBox 6">
            <a:hlinkClick r:id="rId3"/>
          </p:cNvPr>
          <p:cNvSpPr txBox="1"/>
          <p:nvPr/>
        </p:nvSpPr>
        <p:spPr>
          <a:xfrm>
            <a:off x="1645919" y="1691639"/>
            <a:ext cx="4206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2A30"/>
                </a:solidFill>
                <a:latin typeface="Calibri"/>
              </a:rPr>
              <a:t>A ferramenta no ar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B7A6E"/>
                </a:solidFill>
                <a:latin typeface="Calibri"/>
              </a:rPr>
              <a:t>integrafolha.com.br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E6B70"/>
                </a:solidFill>
                <a:latin typeface="Calibri"/>
              </a:rPr>
              <a:t>O site publicado na AWS, com login. Dois portais: o da empresa e o do especialista do banco.</a:t>
            </a:r>
          </a:p>
        </p:txBody>
      </p:sp>
      <p:sp>
        <p:nvSpPr>
          <p:cNvPr id="8" name="Rounded Rectangle 7">
            <a:hlinkClick r:id="rId5"/>
          </p:cNvPr>
          <p:cNvSpPr/>
          <p:nvPr/>
        </p:nvSpPr>
        <p:spPr>
          <a:xfrm>
            <a:off x="6153912" y="1508760"/>
            <a:ext cx="5486400" cy="141732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382512" y="1783080"/>
            <a:ext cx="658368" cy="658368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am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687" y="1954255"/>
            <a:ext cx="316016" cy="316016"/>
          </a:xfrm>
          <a:prstGeom prst="rect">
            <a:avLst/>
          </a:prstGeom>
        </p:spPr>
      </p:pic>
      <p:sp>
        <p:nvSpPr>
          <p:cNvPr id="11" name="TextBox 10">
            <a:hlinkClick r:id="rId5"/>
          </p:cNvPr>
          <p:cNvSpPr txBox="1"/>
          <p:nvPr/>
        </p:nvSpPr>
        <p:spPr>
          <a:xfrm>
            <a:off x="7251192" y="1691639"/>
            <a:ext cx="4206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2A30"/>
                </a:solidFill>
                <a:latin typeface="Calibri"/>
              </a:rPr>
              <a:t>O código no GitHub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B7A6E"/>
                </a:solidFill>
                <a:latin typeface="Calibri"/>
              </a:rPr>
              <a:t>github.com/josioumara/integra-folha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E6B70"/>
                </a:solidFill>
                <a:latin typeface="Calibri"/>
              </a:rPr>
              <a:t>A aplicação, os scripts de configuração, instalação e execução, os dados sintéticos e os testes.</a:t>
            </a:r>
          </a:p>
        </p:txBody>
      </p:sp>
      <p:sp>
        <p:nvSpPr>
          <p:cNvPr id="12" name="Rounded Rectangle 11">
            <a:hlinkClick r:id="rId7"/>
          </p:cNvPr>
          <p:cNvSpPr/>
          <p:nvPr/>
        </p:nvSpPr>
        <p:spPr>
          <a:xfrm>
            <a:off x="548640" y="3081528"/>
            <a:ext cx="5486400" cy="141732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7240" y="3355848"/>
            <a:ext cx="658368" cy="658368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415" y="3527023"/>
            <a:ext cx="316016" cy="316016"/>
          </a:xfrm>
          <a:prstGeom prst="rect">
            <a:avLst/>
          </a:prstGeom>
        </p:spPr>
      </p:pic>
      <p:sp>
        <p:nvSpPr>
          <p:cNvPr id="15" name="TextBox 14">
            <a:hlinkClick r:id="rId7"/>
          </p:cNvPr>
          <p:cNvSpPr txBox="1"/>
          <p:nvPr/>
        </p:nvSpPr>
        <p:spPr>
          <a:xfrm>
            <a:off x="1645919" y="3264408"/>
            <a:ext cx="4206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2A30"/>
                </a:solidFill>
                <a:latin typeface="Calibri"/>
              </a:rPr>
              <a:t>O manual de instalação e acesso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B7A6E"/>
                </a:solidFill>
                <a:latin typeface="Calibri"/>
              </a:rPr>
              <a:t>MANUAL_DE_INSTALACAO_E_ACESSO.md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E6B70"/>
                </a:solidFill>
                <a:latin typeface="Calibri"/>
              </a:rPr>
              <a:t>Como acessar o site e como montar o ambiente do zero: local (Windows, macOS, Linux), Docker e AWS.</a:t>
            </a:r>
          </a:p>
        </p:txBody>
      </p:sp>
      <p:sp>
        <p:nvSpPr>
          <p:cNvPr id="16" name="Rounded Rectangle 15">
            <a:hlinkClick r:id="rId9"/>
          </p:cNvPr>
          <p:cNvSpPr/>
          <p:nvPr/>
        </p:nvSpPr>
        <p:spPr>
          <a:xfrm>
            <a:off x="6153912" y="3081528"/>
            <a:ext cx="5486400" cy="141732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82512" y="3355848"/>
            <a:ext cx="658368" cy="658368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687" y="3527023"/>
            <a:ext cx="316016" cy="316016"/>
          </a:xfrm>
          <a:prstGeom prst="rect">
            <a:avLst/>
          </a:prstGeom>
        </p:spPr>
      </p:pic>
      <p:sp>
        <p:nvSpPr>
          <p:cNvPr id="19" name="TextBox 18">
            <a:hlinkClick r:id="rId9"/>
          </p:cNvPr>
          <p:cNvSpPr txBox="1"/>
          <p:nvPr/>
        </p:nvSpPr>
        <p:spPr>
          <a:xfrm>
            <a:off x="7251192" y="3264408"/>
            <a:ext cx="4206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2A30"/>
                </a:solidFill>
                <a:latin typeface="Calibri"/>
              </a:rPr>
              <a:t>A documentação técnica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B7A6E"/>
                </a:solidFill>
                <a:latin typeface="Calibri"/>
              </a:rPr>
              <a:t>docs/ no GitHub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5E6B70"/>
                </a:solidFill>
                <a:latin typeface="Calibri"/>
              </a:rPr>
              <a:t>O case, a arquitetura, as decisões (ADRs), os experimentos, a avaliação, a ética, a segurança e a hospedagem.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54880"/>
            <a:ext cx="11091672" cy="14813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8737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80">
                <a:solidFill>
                  <a:srgbClr val="1B7A6E"/>
                </a:solidFill>
                <a:latin typeface="Calibri"/>
              </a:rPr>
              <a:t>ACESSOS DA DEMONSTRAÇÃO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93792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5E6B70"/>
                </a:solidFill>
                <a:latin typeface="Calibri"/>
              </a:rPr>
              <a:t>Empresa (o RH)</a:t>
            </a:r>
          </a:p>
          <a:p>
            <a:pPr algn="l">
              <a:spcAft>
                <a:spcPts val="100"/>
              </a:spcAft>
            </a:pPr>
            <a:r>
              <a:rPr sz="1400" b="1" i="0">
                <a:solidFill>
                  <a:srgbClr val="1F2A30"/>
                </a:solidFill>
                <a:latin typeface="Consolas"/>
              </a:rPr>
              <a:t>empresa.aurora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5E6B70"/>
                </a:solidFill>
                <a:latin typeface="Calibri"/>
              </a:rPr>
              <a:t>sem histórico: para cadastrar do zero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5144713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 dirty="0" err="1">
                <a:solidFill>
                  <a:srgbClr val="5E6B70"/>
                </a:solidFill>
                <a:latin typeface="Calibri"/>
              </a:rPr>
              <a:t>Especialista</a:t>
            </a:r>
            <a:r>
              <a:rPr sz="1100" b="1" i="0" dirty="0">
                <a:solidFill>
                  <a:srgbClr val="5E6B70"/>
                </a:solidFill>
                <a:latin typeface="Calibri"/>
              </a:rPr>
              <a:t> do banco</a:t>
            </a:r>
          </a:p>
          <a:p>
            <a:pPr algn="l">
              <a:spcAft>
                <a:spcPts val="100"/>
              </a:spcAft>
            </a:pPr>
            <a:r>
              <a:rPr sz="1400" b="1" i="0" dirty="0" err="1">
                <a:solidFill>
                  <a:srgbClr val="1F2A30"/>
                </a:solidFill>
                <a:latin typeface="Consolas"/>
              </a:rPr>
              <a:t>especialista.banco</a:t>
            </a:r>
            <a:endParaRPr sz="1400" b="1" i="0" dirty="0">
              <a:solidFill>
                <a:srgbClr val="1F2A30"/>
              </a:solidFill>
              <a:latin typeface="Consolas"/>
            </a:endParaRPr>
          </a:p>
          <a:p>
            <a:pPr algn="l">
              <a:spcAft>
                <a:spcPts val="100"/>
              </a:spcAft>
            </a:pPr>
            <a:r>
              <a:rPr sz="1050" b="0" i="0" dirty="0">
                <a:solidFill>
                  <a:srgbClr val="5E6B70"/>
                </a:solidFill>
                <a:latin typeface="Calibri"/>
              </a:rPr>
              <a:t>o Portal </a:t>
            </a:r>
            <a:r>
              <a:rPr sz="1050" b="0" i="0" dirty="0" err="1">
                <a:solidFill>
                  <a:srgbClr val="5E6B70"/>
                </a:solidFill>
                <a:latin typeface="Calibri"/>
              </a:rPr>
              <a:t>Interno</a:t>
            </a:r>
            <a:r>
              <a:rPr sz="1050" b="0" i="0" dirty="0">
                <a:solidFill>
                  <a:srgbClr val="5E6B70"/>
                </a:solidFill>
                <a:latin typeface="Calibri"/>
              </a:rPr>
              <a:t>: </a:t>
            </a:r>
            <a:r>
              <a:rPr sz="1050" b="0" i="0" dirty="0" err="1">
                <a:solidFill>
                  <a:srgbClr val="5E6B70"/>
                </a:solidFill>
                <a:latin typeface="Calibri"/>
              </a:rPr>
              <a:t>envios</a:t>
            </a:r>
            <a:r>
              <a:rPr sz="1050" b="0" i="0" dirty="0">
                <a:solidFill>
                  <a:srgbClr val="5E6B70"/>
                </a:solidFill>
                <a:latin typeface="Calibri"/>
              </a:rPr>
              <a:t>, </a:t>
            </a:r>
            <a:r>
              <a:rPr sz="1050" b="0" i="0" dirty="0" err="1">
                <a:solidFill>
                  <a:srgbClr val="5E6B70"/>
                </a:solidFill>
                <a:latin typeface="Calibri"/>
              </a:rPr>
              <a:t>contas</a:t>
            </a:r>
            <a:r>
              <a:rPr sz="1050" b="0" i="0" dirty="0">
                <a:solidFill>
                  <a:srgbClr val="5E6B70"/>
                </a:solidFill>
                <a:latin typeface="Calibri"/>
              </a:rPr>
              <a:t>, </a:t>
            </a:r>
            <a:r>
              <a:rPr sz="1050" b="0" i="0" dirty="0" err="1">
                <a:solidFill>
                  <a:srgbClr val="5E6B70"/>
                </a:solidFill>
                <a:latin typeface="Calibri"/>
              </a:rPr>
              <a:t>materiais</a:t>
            </a:r>
            <a:r>
              <a:rPr sz="1050" b="0" i="0" dirty="0">
                <a:solidFill>
                  <a:srgbClr val="5E6B70"/>
                </a:solidFill>
                <a:latin typeface="Calibri"/>
              </a:rPr>
              <a:t> e </a:t>
            </a:r>
            <a:r>
              <a:rPr sz="1050" b="0" i="0" dirty="0" err="1">
                <a:solidFill>
                  <a:srgbClr val="5E6B70"/>
                </a:solidFill>
                <a:latin typeface="Calibri"/>
              </a:rPr>
              <a:t>agentes</a:t>
            </a:r>
            <a:endParaRPr sz="1050" b="0" i="0" dirty="0">
              <a:solidFill>
                <a:srgbClr val="5E6B70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40880" y="5172933"/>
            <a:ext cx="2658665" cy="5668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lang="pt-BR" sz="1100" b="1" dirty="0">
                <a:solidFill>
                  <a:srgbClr val="5E6B70"/>
                </a:solidFill>
                <a:latin typeface="Calibri"/>
              </a:rPr>
              <a:t>Senha de acesso a ferramenta para avaliação para ambos os perfis:  </a:t>
            </a:r>
          </a:p>
          <a:p>
            <a:pPr algn="l"/>
            <a:r>
              <a:rPr lang="pt-BR" sz="1400" b="1" i="0" dirty="0">
                <a:solidFill>
                  <a:srgbClr val="C98212"/>
                </a:solidFill>
                <a:latin typeface="Calibri"/>
              </a:rPr>
              <a:t>hub2026!</a:t>
            </a:r>
            <a:endParaRPr sz="1400" b="1" i="0" dirty="0">
              <a:solidFill>
                <a:srgbClr val="C98212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O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Sem uma equipe de implantação, a empresa trava e desiste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246120" cy="3886200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" y="1737360"/>
            <a:ext cx="566928" cy="566928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red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1884761"/>
            <a:ext cx="272125" cy="2721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2487168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A30"/>
                </a:solidFill>
                <a:latin typeface="Cambria"/>
              </a:rPr>
              <a:t>Mais de 300 funcionários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28346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A30"/>
                </a:solidFill>
                <a:latin typeface="Calibri"/>
              </a:rPr>
              <a:t>Ao escolher o Santander para pagar os funcionários, a empresa recebe uma equipe que cuida de toda a implantação da folha.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80060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480060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IMPLANTAÇÃO ASSISTIDA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1508760"/>
            <a:ext cx="4343400" cy="3886200"/>
          </a:xfrm>
          <a:prstGeom prst="roundRect">
            <a:avLst>
              <a:gd name="adj" fmla="val 3000"/>
            </a:avLst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06240" y="1737360"/>
            <a:ext cx="566928" cy="566928"/>
          </a:xfrm>
          <a:prstGeom prst="ellipse">
            <a:avLst/>
          </a:prstGeom>
          <a:solidFill>
            <a:srgbClr val="B5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pesso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3641" y="1884761"/>
            <a:ext cx="272125" cy="2721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06240" y="2487168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A30"/>
                </a:solidFill>
                <a:latin typeface="Cambria"/>
              </a:rPr>
              <a:t>As menores fazem sozinhas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127248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5E6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06240" y="31272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127248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30"/>
                </a:solidFill>
                <a:latin typeface="Calibri"/>
              </a:rPr>
              <a:t>Baixam o arquivo-modelo no IB PJ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3602736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5E6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360273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602736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30"/>
                </a:solidFill>
                <a:latin typeface="Calibri"/>
              </a:rPr>
              <a:t>Copiam os dados do sistema de RH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078224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5E6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06240" y="407822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078224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1F2A30"/>
                </a:solidFill>
                <a:latin typeface="Calibri"/>
              </a:rPr>
              <a:t>Preenchem e devolvem no IB PJ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4553712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B5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06240" y="455371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553712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B5452F"/>
                </a:solidFill>
                <a:latin typeface="Calibri"/>
              </a:rPr>
              <a:t>Travam na validação e desistem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50292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1">
                <a:solidFill>
                  <a:srgbClr val="B5452F"/>
                </a:solidFill>
                <a:latin typeface="Calibri"/>
              </a:rPr>
              <a:t>Um problema de eficiência: o fluxo é ruim.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03920" y="1508760"/>
            <a:ext cx="3136392" cy="3886200"/>
          </a:xfrm>
          <a:prstGeom prst="roundRect">
            <a:avLst>
              <a:gd name="adj" fmla="val 3000"/>
            </a:avLst>
          </a:prstGeom>
          <a:solidFill>
            <a:srgbClr val="FF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732520" y="1737360"/>
            <a:ext cx="566928" cy="566928"/>
          </a:xfrm>
          <a:prstGeom prst="ellipse">
            <a:avLst/>
          </a:prstGeom>
          <a:solidFill>
            <a:srgbClr val="C9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9921" y="1884761"/>
            <a:ext cx="272125" cy="27212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732520" y="2487168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2A30"/>
                </a:solidFill>
                <a:latin typeface="Cambria"/>
              </a:rPr>
              <a:t>O banco perde a largada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108960"/>
            <a:ext cx="27432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F2A30"/>
                </a:solidFill>
                <a:latin typeface="Calibri"/>
              </a:rPr>
              <a:t>Não engaja a folha na entrada, </a:t>
            </a:r>
            <a:r>
              <a:rPr sz="1300" b="1" i="0">
                <a:solidFill>
                  <a:srgbClr val="1F2A30"/>
                </a:solidFill>
                <a:latin typeface="Calibri"/>
              </a:rPr>
              <a:t>por causa da jornada difícil</a:t>
            </a:r>
            <a:r>
              <a:rPr sz="1300" b="0" i="0">
                <a:solidFill>
                  <a:srgbClr val="1F2A30"/>
                </a:solidFill>
                <a:latin typeface="Calibri"/>
              </a:rPr>
              <a:t>, e não criou um jeito de incentivar a empresa a </a:t>
            </a:r>
            <a:r>
              <a:rPr sz="1300" b="1" i="0">
                <a:solidFill>
                  <a:srgbClr val="1F2A30"/>
                </a:solidFill>
                <a:latin typeface="Calibri"/>
              </a:rPr>
              <a:t>comunicar a parceria aos funcionários</a:t>
            </a:r>
            <a:r>
              <a:rPr sz="1300" b="0" i="0">
                <a:solidFill>
                  <a:srgbClr val="1F2A30"/>
                </a:solidFill>
                <a:latin typeface="Calibri"/>
              </a:rPr>
              <a:t>, que são os futuros clientes.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559552"/>
            <a:ext cx="11091672" cy="713232"/>
          </a:xfrm>
          <a:prstGeom prst="roundRect">
            <a:avLst>
              <a:gd name="adj" fmla="val 3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" y="5559552"/>
            <a:ext cx="106070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7FC4B8"/>
                </a:solidFill>
                <a:latin typeface="Calibri"/>
              </a:rPr>
              <a:t>A consequência: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o funcionário até abre a conta, mas o banco não sabe que o salário dele é pago ali. É o cliente "falso não folha".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 dirty="0">
                <a:solidFill>
                  <a:srgbClr val="1B7A6E"/>
                </a:solidFill>
                <a:latin typeface="Calibri"/>
              </a:rPr>
              <a:t>O TAMANHO DA OPORTUNIDADE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Metade das empresas desiste, e o banco perde o cliente folha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931920" cy="3291840"/>
          </a:xfrm>
          <a:prstGeom prst="roundRect">
            <a:avLst>
              <a:gd name="adj" fmla="val 3000"/>
            </a:avLst>
          </a:prstGeom>
          <a:solidFill>
            <a:srgbClr val="FB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347472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200" b="1" i="0">
                <a:solidFill>
                  <a:srgbClr val="B5452F"/>
                </a:solidFill>
                <a:latin typeface="Cambria"/>
              </a:rPr>
              <a:t>50,4%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3474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2A30"/>
                </a:solidFill>
                <a:latin typeface="Calibri"/>
              </a:rPr>
              <a:t>das empresas desistem de concluir o cadastro da folha no banco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5E6B70"/>
                </a:solidFill>
                <a:latin typeface="Calibri"/>
              </a:rPr>
              <a:t>Fonte: levantamento da área de negócio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4813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5E6B70"/>
                </a:solidFill>
                <a:latin typeface="Calibri"/>
              </a:rPr>
              <a:t>HOJE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48132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1B7A6E"/>
                </a:solidFill>
                <a:latin typeface="Calibri"/>
              </a:rPr>
              <a:t>COM A SOLUÇÃO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810512"/>
            <a:ext cx="4663440" cy="868680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1856231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5E6B70"/>
                </a:solidFill>
                <a:latin typeface="Cambria"/>
              </a:rPr>
              <a:t>50,4%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Desistência das empresas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12280" y="2240280"/>
            <a:ext cx="320040" cy="0"/>
          </a:xfrm>
          <a:prstGeom prst="line">
            <a:avLst/>
          </a:prstGeom>
          <a:ln w="25400">
            <a:solidFill>
              <a:srgbClr val="1B7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69480" y="1856231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B7A6E"/>
                </a:solidFill>
                <a:latin typeface="Cambria"/>
              </a:rPr>
              <a:t>20%</a:t>
            </a:r>
          </a:p>
          <a:p>
            <a:pPr algn="l"/>
            <a:r>
              <a:rPr sz="1050" b="1" i="0">
                <a:solidFill>
                  <a:srgbClr val="1B7A6E"/>
                </a:solidFill>
                <a:latin typeface="Calibri"/>
              </a:rPr>
              <a:t>meta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816352"/>
            <a:ext cx="4663440" cy="868680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2862072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5E6B70"/>
                </a:solidFill>
                <a:latin typeface="Cambria"/>
              </a:rPr>
              <a:t>520.220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Clientes falso não folha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12280" y="3246120"/>
            <a:ext cx="320040" cy="0"/>
          </a:xfrm>
          <a:prstGeom prst="line">
            <a:avLst/>
          </a:prstGeom>
          <a:ln w="25400">
            <a:solidFill>
              <a:srgbClr val="1B7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69480" y="2862072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B7A6E"/>
                </a:solidFill>
                <a:latin typeface="Cambria"/>
              </a:rPr>
              <a:t>206.437</a:t>
            </a:r>
          </a:p>
          <a:p>
            <a:pPr algn="l"/>
            <a:r>
              <a:rPr sz="1050" b="1" i="0">
                <a:solidFill>
                  <a:srgbClr val="1B7A6E"/>
                </a:solidFill>
                <a:latin typeface="Calibri"/>
              </a:rPr>
              <a:t>313.783 recuperados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822191"/>
            <a:ext cx="4663440" cy="868680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3867911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5E6B70"/>
                </a:solidFill>
                <a:latin typeface="Cambria"/>
              </a:rPr>
              <a:t>R$ 1.724,00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MOB por cliente, 12 meses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12280" y="4251959"/>
            <a:ext cx="320040" cy="0"/>
          </a:xfrm>
          <a:prstGeom prst="line">
            <a:avLst/>
          </a:prstGeom>
          <a:ln w="25400">
            <a:solidFill>
              <a:srgbClr val="1B7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69480" y="3867911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>
                <a:solidFill>
                  <a:srgbClr val="1B7A6E"/>
                </a:solidFill>
                <a:latin typeface="Cambria"/>
              </a:rPr>
              <a:t>R$ 2.090,62</a:t>
            </a:r>
          </a:p>
          <a:p>
            <a:pPr algn="l"/>
            <a:r>
              <a:rPr sz="1050" b="1" i="0">
                <a:solidFill>
                  <a:srgbClr val="1B7A6E"/>
                </a:solidFill>
                <a:latin typeface="Calibri"/>
              </a:rPr>
              <a:t>+R$ 366,62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1810512"/>
            <a:ext cx="2130552" cy="2880360"/>
          </a:xfrm>
          <a:prstGeom prst="roundRect">
            <a:avLst>
              <a:gd name="adj" fmla="val 3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46920" y="196596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7FC4B8"/>
                </a:solidFill>
                <a:latin typeface="Calibri"/>
              </a:rPr>
              <a:t>EM 12 MESES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286000"/>
            <a:ext cx="196596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≈ R$ 115 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3429000"/>
            <a:ext cx="187451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CFE3DF"/>
                </a:solidFill>
                <a:latin typeface="Calibri"/>
              </a:rPr>
              <a:t>313.783 clientes recuperados × R$ 366,62 de MOB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83480"/>
            <a:ext cx="11091672" cy="1280160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320913"/>
            <a:ext cx="10698480" cy="6052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200" b="1" i="0" dirty="0">
                <a:solidFill>
                  <a:srgbClr val="1F2A30"/>
                </a:solidFill>
                <a:latin typeface="Calibri"/>
              </a:rPr>
              <a:t>Falso </a:t>
            </a:r>
            <a:r>
              <a:rPr sz="1200" b="1" i="0" dirty="0" err="1">
                <a:solidFill>
                  <a:srgbClr val="1F2A30"/>
                </a:solidFill>
                <a:latin typeface="Calibri"/>
              </a:rPr>
              <a:t>não</a:t>
            </a:r>
            <a:r>
              <a:rPr sz="1200" b="1" i="0" dirty="0">
                <a:solidFill>
                  <a:srgbClr val="1F2A30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2A30"/>
                </a:solidFill>
                <a:latin typeface="Calibri"/>
              </a:rPr>
              <a:t>folha</a:t>
            </a:r>
            <a:r>
              <a:rPr sz="1200" b="1" i="0" dirty="0">
                <a:solidFill>
                  <a:srgbClr val="1F2A30"/>
                </a:solidFill>
                <a:latin typeface="Calibri"/>
              </a:rPr>
              <a:t>: </a:t>
            </a:r>
            <a:r>
              <a:rPr lang="pt-BR" sz="1200" dirty="0">
                <a:solidFill>
                  <a:srgbClr val="1F2A30"/>
                </a:solidFill>
              </a:rPr>
              <a:t>o funcionário tem conta no banco, mas o banco não consegue identifica-lo corretamente como um cliente folha.</a:t>
            </a:r>
          </a:p>
          <a:p>
            <a:pPr algn="l">
              <a:spcAft>
                <a:spcPts val="400"/>
              </a:spcAft>
            </a:pPr>
            <a:r>
              <a:rPr sz="1200" b="1" i="0" dirty="0" err="1">
                <a:solidFill>
                  <a:srgbClr val="1F2A30"/>
                </a:solidFill>
                <a:latin typeface="Calibri"/>
              </a:rPr>
              <a:t>Premissa</a:t>
            </a:r>
            <a:r>
              <a:rPr sz="1200" b="1" i="0" dirty="0">
                <a:solidFill>
                  <a:srgbClr val="1F2A30"/>
                </a:solidFill>
                <a:latin typeface="Calibri"/>
              </a:rPr>
              <a:t>: </a:t>
            </a:r>
            <a:r>
              <a:rPr sz="1200" b="0" i="0" dirty="0">
                <a:solidFill>
                  <a:srgbClr val="1F2A30"/>
                </a:solidFill>
                <a:latin typeface="Calibri"/>
              </a:rPr>
              <a:t>o </a:t>
            </a:r>
            <a:r>
              <a:rPr sz="1200" b="0" i="0" dirty="0" err="1">
                <a:solidFill>
                  <a:srgbClr val="1F2A30"/>
                </a:solidFill>
                <a:latin typeface="Calibri"/>
              </a:rPr>
              <a:t>falso</a:t>
            </a:r>
            <a:r>
              <a:rPr sz="1200" b="0" i="0" dirty="0">
                <a:solidFill>
                  <a:srgbClr val="1F2A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F2A30"/>
                </a:solidFill>
                <a:latin typeface="Calibri"/>
              </a:rPr>
              <a:t>não</a:t>
            </a:r>
            <a:r>
              <a:rPr sz="1200" b="0" i="0" dirty="0">
                <a:solidFill>
                  <a:srgbClr val="1F2A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F2A30"/>
                </a:solidFill>
                <a:latin typeface="Calibri"/>
              </a:rPr>
              <a:t>folha</a:t>
            </a:r>
            <a:r>
              <a:rPr sz="1200" b="0" i="0" dirty="0">
                <a:solidFill>
                  <a:srgbClr val="1F2A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F2A30"/>
                </a:solidFill>
                <a:latin typeface="Calibri"/>
              </a:rPr>
              <a:t>cai</a:t>
            </a:r>
            <a:r>
              <a:rPr sz="1200" b="0" i="0" dirty="0">
                <a:solidFill>
                  <a:srgbClr val="1F2A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F2A30"/>
                </a:solidFill>
                <a:latin typeface="Calibri"/>
              </a:rPr>
              <a:t>na</a:t>
            </a:r>
            <a:r>
              <a:rPr sz="1200" b="0" i="0" dirty="0">
                <a:solidFill>
                  <a:srgbClr val="1F2A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F2A30"/>
                </a:solidFill>
                <a:latin typeface="Calibri"/>
              </a:rPr>
              <a:t>mesma</a:t>
            </a:r>
            <a:r>
              <a:rPr sz="1200" b="0" i="0" dirty="0">
                <a:solidFill>
                  <a:srgbClr val="1F2A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F2A30"/>
                </a:solidFill>
                <a:latin typeface="Calibri"/>
              </a:rPr>
              <a:t>proporção</a:t>
            </a:r>
            <a:r>
              <a:rPr sz="1200" b="0" i="0" dirty="0">
                <a:solidFill>
                  <a:srgbClr val="1F2A30"/>
                </a:solidFill>
                <a:latin typeface="Calibri"/>
              </a:rPr>
              <a:t> da </a:t>
            </a:r>
            <a:r>
              <a:rPr sz="1200" b="0" i="0" dirty="0" err="1">
                <a:solidFill>
                  <a:srgbClr val="1F2A30"/>
                </a:solidFill>
                <a:latin typeface="Calibri"/>
              </a:rPr>
              <a:t>desistência</a:t>
            </a:r>
            <a:r>
              <a:rPr sz="1200" b="0" i="0" dirty="0">
                <a:solidFill>
                  <a:srgbClr val="1F2A30"/>
                </a:solidFill>
                <a:latin typeface="Calibri"/>
              </a:rPr>
              <a:t> (−60%). MOB: </a:t>
            </a:r>
            <a:r>
              <a:rPr sz="1200" b="0" i="0" dirty="0" err="1">
                <a:solidFill>
                  <a:srgbClr val="1F2A30"/>
                </a:solidFill>
                <a:latin typeface="Calibri"/>
              </a:rPr>
              <a:t>margem</a:t>
            </a:r>
            <a:r>
              <a:rPr sz="1200" b="0" i="0" dirty="0">
                <a:solidFill>
                  <a:srgbClr val="1F2A30"/>
                </a:solidFill>
                <a:latin typeface="Calibri"/>
              </a:rPr>
              <a:t> de </a:t>
            </a:r>
            <a:r>
              <a:rPr sz="1200" b="0" i="0" dirty="0" err="1">
                <a:solidFill>
                  <a:srgbClr val="1F2A30"/>
                </a:solidFill>
                <a:latin typeface="Calibri"/>
              </a:rPr>
              <a:t>contribuição</a:t>
            </a:r>
            <a:r>
              <a:rPr sz="1200" b="0" i="0" dirty="0">
                <a:solidFill>
                  <a:srgbClr val="1F2A30"/>
                </a:solidFill>
                <a:latin typeface="Calibri"/>
              </a:rPr>
              <a:t> do </a:t>
            </a:r>
            <a:r>
              <a:rPr sz="1200" b="0" i="0" dirty="0" err="1">
                <a:solidFill>
                  <a:srgbClr val="1F2A30"/>
                </a:solidFill>
                <a:latin typeface="Calibri"/>
              </a:rPr>
              <a:t>cliente</a:t>
            </a:r>
            <a:r>
              <a:rPr sz="1200" b="0" i="0" dirty="0">
                <a:solidFill>
                  <a:srgbClr val="1F2A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F2A30"/>
                </a:solidFill>
                <a:latin typeface="Calibri"/>
              </a:rPr>
              <a:t>em</a:t>
            </a:r>
            <a:r>
              <a:rPr sz="1200" b="0" i="0" dirty="0">
                <a:solidFill>
                  <a:srgbClr val="1F2A30"/>
                </a:solidFill>
                <a:latin typeface="Calibri"/>
              </a:rPr>
              <a:t> 12 meses. </a:t>
            </a:r>
            <a:r>
              <a:rPr sz="1200" b="0" i="0" dirty="0" err="1">
                <a:solidFill>
                  <a:srgbClr val="1F2A30"/>
                </a:solidFill>
                <a:latin typeface="Calibri"/>
              </a:rPr>
              <a:t>Estimativa</a:t>
            </a:r>
            <a:r>
              <a:rPr sz="1200" b="0" i="0" dirty="0">
                <a:solidFill>
                  <a:srgbClr val="1F2A30"/>
                </a:solidFill>
                <a:latin typeface="Calibri"/>
              </a:rPr>
              <a:t> de </a:t>
            </a:r>
            <a:r>
              <a:rPr sz="1200" b="0" i="0" dirty="0" err="1">
                <a:solidFill>
                  <a:srgbClr val="1F2A30"/>
                </a:solidFill>
                <a:latin typeface="Calibri"/>
              </a:rPr>
              <a:t>potencial</a:t>
            </a:r>
            <a:r>
              <a:rPr sz="1200" b="0" i="0" dirty="0">
                <a:solidFill>
                  <a:srgbClr val="1F2A30"/>
                </a:solidFill>
                <a:latin typeface="Calibri"/>
              </a:rPr>
              <a:t>, </a:t>
            </a:r>
            <a:r>
              <a:rPr sz="1200" b="0" i="0" dirty="0" err="1">
                <a:solidFill>
                  <a:srgbClr val="1F2A30"/>
                </a:solidFill>
                <a:latin typeface="Calibri"/>
              </a:rPr>
              <a:t>não</a:t>
            </a:r>
            <a:r>
              <a:rPr sz="1200" b="0" i="0" dirty="0">
                <a:solidFill>
                  <a:srgbClr val="1F2A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F2A30"/>
                </a:solidFill>
                <a:latin typeface="Calibri"/>
              </a:rPr>
              <a:t>receita</a:t>
            </a:r>
            <a:r>
              <a:rPr sz="1200" b="0" i="0" dirty="0">
                <a:solidFill>
                  <a:srgbClr val="1F2A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F2A30"/>
                </a:solidFill>
                <a:latin typeface="Calibri"/>
              </a:rPr>
              <a:t>realizada</a:t>
            </a:r>
            <a:r>
              <a:rPr sz="1200" b="0" i="0" dirty="0">
                <a:solidFill>
                  <a:srgbClr val="1F2A30"/>
                </a:solidFill>
                <a:latin typeface="Calibri"/>
              </a:rPr>
              <a:t>; </a:t>
            </a:r>
            <a:r>
              <a:rPr sz="1200" b="0" i="0" dirty="0" err="1">
                <a:solidFill>
                  <a:srgbClr val="1F2A30"/>
                </a:solidFill>
                <a:latin typeface="Calibri"/>
              </a:rPr>
              <a:t>referência</a:t>
            </a:r>
            <a:r>
              <a:rPr sz="1200" b="0" i="0" dirty="0">
                <a:solidFill>
                  <a:srgbClr val="1F2A3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1F2A30"/>
                </a:solidFill>
                <a:latin typeface="Calibri"/>
              </a:rPr>
              <a:t>fev</a:t>
            </a:r>
            <a:r>
              <a:rPr sz="1200" b="0" i="0" dirty="0">
                <a:solidFill>
                  <a:srgbClr val="1F2A30"/>
                </a:solidFill>
                <a:latin typeface="Calibri"/>
              </a:rPr>
              <a:t>/2026.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11480" y="502920"/>
            <a:ext cx="6583680" cy="4480560"/>
          </a:xfrm>
          <a:prstGeom prst="roundRect">
            <a:avLst>
              <a:gd name="adj" fmla="val 2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4360" y="60350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06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5528" y="60350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E8B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96696" y="603504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5FB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25880" y="566928"/>
            <a:ext cx="402336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63040" y="566928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integrafolha.com.br/login.html</a:t>
            </a:r>
          </a:p>
        </p:txBody>
      </p:sp>
      <p:pic>
        <p:nvPicPr>
          <p:cNvPr id="8" name="Picture 7" descr="login_lo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68680"/>
            <a:ext cx="6400800" cy="400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60920" y="566928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 SOLUÇÃO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868680"/>
            <a:ext cx="4343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Integra Folha: a empresa manda a folha como 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240280"/>
            <a:ext cx="4297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1F2A30"/>
                </a:solidFill>
                <a:latin typeface="Calibri"/>
              </a:rPr>
              <a:t>Um sistema que apoia as empresas no cadastro dos funcionários com o banco, numa jornada facilitada por agentes de 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15468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20">
                <a:solidFill>
                  <a:srgbClr val="1B7A6E"/>
                </a:solidFill>
                <a:latin typeface="Calibri"/>
              </a:rPr>
              <a:t>OS AGENTES AJUDAM A EMPRESA EM DOIS MOMENTOS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3493008"/>
            <a:ext cx="4279392" cy="114300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516368" y="36301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16368" y="36301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3584448"/>
            <a:ext cx="3474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F2A30"/>
                </a:solidFill>
                <a:latin typeface="Calibri"/>
              </a:rPr>
              <a:t>No cadastro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F2A30"/>
                </a:solidFill>
                <a:latin typeface="Calibri"/>
              </a:rPr>
              <a:t>Leem Excel, CSV e Word do jeito que a empresa tem, entendem cada coluna e conferem a leitura. A pessoa confirma só o que importa.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4754879"/>
            <a:ext cx="4279392" cy="114300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16368" y="48920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48920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4846319"/>
            <a:ext cx="3474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F2A30"/>
                </a:solidFill>
                <a:latin typeface="Calibri"/>
              </a:rPr>
              <a:t>Na comunicação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1F2A30"/>
                </a:solidFill>
                <a:latin typeface="Calibri"/>
              </a:rPr>
              <a:t>O especialista do banco gera com um agente os materiais que a empresa divulga aos funcionários, com os benefícios certos e a fonte de cada informação.</a:t>
            </a:r>
          </a:p>
        </p:txBody>
      </p:sp>
      <p:sp>
        <p:nvSpPr>
          <p:cNvPr id="21" name="Rounded Rectangle 20">
            <a:hlinkClick r:id="rId4"/>
          </p:cNvPr>
          <p:cNvSpPr/>
          <p:nvPr/>
        </p:nvSpPr>
        <p:spPr>
          <a:xfrm>
            <a:off x="411480" y="5230368"/>
            <a:ext cx="3108960" cy="420624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    Abrir integrafolha.com.br</a:t>
            </a:r>
          </a:p>
        </p:txBody>
      </p:sp>
      <p:pic>
        <p:nvPicPr>
          <p:cNvPr id="22" name="Picture 21" descr="globo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5331317"/>
            <a:ext cx="218724" cy="21872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703320" y="5230368"/>
            <a:ext cx="32918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1">
                <a:solidFill>
                  <a:srgbClr val="5E6B70"/>
                </a:solidFill>
                <a:latin typeface="Calibri"/>
              </a:rPr>
              <a:t>A tela de entrada do Portal Empresa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VISÃO MACRO DA FERRAMENTA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Dois módulos, cinco agentes e uma pessoa em cada decisão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0" y="384048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0" y="384048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AGENTE propõe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8404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D9E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0" y="38404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1F2A30"/>
                </a:solidFill>
                <a:latin typeface="Calibri"/>
              </a:rPr>
              <a:t>REGRA confere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7000" y="384048"/>
            <a:ext cx="1353312" cy="256032"/>
          </a:xfrm>
          <a:prstGeom prst="roundRect">
            <a:avLst>
              <a:gd name="adj" fmla="val 50000"/>
            </a:avLst>
          </a:prstGeom>
          <a:solidFill>
            <a:srgbClr val="C9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87000" y="384048"/>
            <a:ext cx="1353312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PESSOA decide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81328"/>
            <a:ext cx="5349240" cy="3977639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1520" y="1627632"/>
            <a:ext cx="475488" cy="475488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pred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46" y="1751258"/>
            <a:ext cx="228234" cy="22823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25880" y="1591056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2A30"/>
                </a:solidFill>
                <a:latin typeface="Cambria"/>
              </a:rPr>
              <a:t>Portal Empresa</a:t>
            </a:r>
          </a:p>
          <a:p>
            <a:pPr algn="l"/>
            <a:r>
              <a:rPr sz="1100" b="0" i="0">
                <a:solidFill>
                  <a:srgbClr val="5E6B70"/>
                </a:solidFill>
                <a:latin typeface="Calibri"/>
              </a:rPr>
              <a:t>o RH da empresa cliente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30428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C9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304288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PESSOA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267712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1F2A30"/>
                </a:solidFill>
                <a:latin typeface="Calibri"/>
              </a:rPr>
              <a:t>Envia a folha como tem: Excel, CSV ou 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67004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2670048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AGENTE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633472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1F2A30"/>
                </a:solidFill>
                <a:latin typeface="Calibri"/>
              </a:rPr>
              <a:t>Lê o documento e confere a leitura</a:t>
            </a:r>
            <a:r>
              <a:rPr sz="1150" b="1" i="0">
                <a:solidFill>
                  <a:srgbClr val="1B7A6E"/>
                </a:solidFill>
                <a:latin typeface="Calibri"/>
              </a:rPr>
              <a:t>  Leitor · Conferidor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03580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035808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AGENTE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2999232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1F2A30"/>
                </a:solidFill>
                <a:latin typeface="Calibri"/>
              </a:rPr>
              <a:t>Liga cada coluna ao campo do banco</a:t>
            </a:r>
            <a:r>
              <a:rPr sz="1150" b="1" i="0">
                <a:solidFill>
                  <a:srgbClr val="1B7A6E"/>
                </a:solidFill>
                <a:latin typeface="Calibri"/>
              </a:rPr>
              <a:t>  Interpretador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40156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D9E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3401568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F2A30"/>
                </a:solidFill>
                <a:latin typeface="Calibri"/>
              </a:rPr>
              <a:t>REGRA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364992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1F2A30"/>
                </a:solidFill>
                <a:latin typeface="Calibri"/>
              </a:rPr>
              <a:t>Padroniza e valida: CPF, datas e faixa salarial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76732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C9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3767328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PESSOA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3730752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1F2A30"/>
                </a:solidFill>
                <a:latin typeface="Calibri"/>
              </a:rPr>
              <a:t>Confirma as colunas e os 4 obrigatórios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13308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133088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AGENTE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096512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1F2A30"/>
                </a:solidFill>
                <a:latin typeface="Calibri"/>
              </a:rPr>
              <a:t>Resolve pendências conversando</a:t>
            </a:r>
            <a:r>
              <a:rPr sz="1150" b="1" i="0">
                <a:solidFill>
                  <a:srgbClr val="1B7A6E"/>
                </a:solidFill>
                <a:latin typeface="Calibri"/>
              </a:rPr>
              <a:t>  Agente de validação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49884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C9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4498848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PESSOA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4462272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1F2A30"/>
                </a:solidFill>
                <a:latin typeface="Calibri"/>
              </a:rPr>
              <a:t>Envia ao banco e baixa os materiais publicados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892040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B5452F"/>
                </a:solidFill>
                <a:latin typeface="Calibri"/>
              </a:rPr>
              <a:t>Dor que resolve: </a:t>
            </a:r>
            <a:r>
              <a:rPr sz="1150" b="0" i="0">
                <a:solidFill>
                  <a:srgbClr val="1F2A30"/>
                </a:solidFill>
                <a:latin typeface="Calibri"/>
              </a:rPr>
              <a:t>o fluxo manual que travava na validação.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91072" y="1481328"/>
            <a:ext cx="5349240" cy="3977639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473952" y="1627632"/>
            <a:ext cx="475488" cy="475488"/>
          </a:xfrm>
          <a:prstGeom prst="ellipse">
            <a:avLst/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b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7578" y="1751258"/>
            <a:ext cx="228234" cy="22823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068312" y="1591056"/>
            <a:ext cx="4480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2A30"/>
                </a:solidFill>
                <a:latin typeface="Cambria"/>
              </a:rPr>
              <a:t>Portal Interno</a:t>
            </a:r>
          </a:p>
          <a:p>
            <a:pPr algn="l"/>
            <a:r>
              <a:rPr sz="1100" b="0" i="0">
                <a:solidFill>
                  <a:srgbClr val="5E6B70"/>
                </a:solidFill>
                <a:latin typeface="Calibri"/>
              </a:rPr>
              <a:t>o especialista do banco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19672" y="230428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C9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19672" y="2304288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PESSOA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34071" y="2267712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1F2A30"/>
                </a:solidFill>
                <a:latin typeface="Calibri"/>
              </a:rPr>
              <a:t>Define o que o banco quer receber (parâmetro)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19672" y="267004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C9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19672" y="2670048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PESSOA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34071" y="2633472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1F2A30"/>
                </a:solidFill>
                <a:latin typeface="Calibri"/>
              </a:rPr>
              <a:t>Avalia os envios: aprova ou aponta por pessoa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19672" y="303580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C9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19672" y="3035808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PESSOA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34071" y="2999232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1F2A30"/>
                </a:solidFill>
                <a:latin typeface="Calibri"/>
              </a:rPr>
              <a:t>Informa as contas abertas (arquivo de retorno)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19672" y="340156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D9E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19672" y="3401568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F2A30"/>
                </a:solidFill>
                <a:latin typeface="Calibri"/>
              </a:rPr>
              <a:t>REGRA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34071" y="3364992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1F2A30"/>
                </a:solidFill>
                <a:latin typeface="Calibri"/>
              </a:rPr>
              <a:t>Confere o layout do arquivo de contas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19672" y="376732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19672" y="3767328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AGENTE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34071" y="3730752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1F2A30"/>
                </a:solidFill>
                <a:latin typeface="Calibri"/>
              </a:rPr>
              <a:t>Gera os materiais de endomarketing</a:t>
            </a:r>
            <a:r>
              <a:rPr sz="1150" b="1" i="0">
                <a:solidFill>
                  <a:srgbClr val="1B7A6E"/>
                </a:solidFill>
                <a:latin typeface="Calibri"/>
              </a:rPr>
              <a:t>  Endomarketing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19672" y="413308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C9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19672" y="4133088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PESSOA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34071" y="4096512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1F2A30"/>
                </a:solidFill>
                <a:latin typeface="Calibri"/>
              </a:rPr>
              <a:t>Confere e publica cada material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19672" y="4498848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D9E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519672" y="4498848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F2A30"/>
                </a:solidFill>
                <a:latin typeface="Calibri"/>
              </a:rPr>
              <a:t>REGRA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34071" y="4462272"/>
            <a:ext cx="40690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0" i="0">
                <a:solidFill>
                  <a:srgbClr val="1F2A30"/>
                </a:solidFill>
                <a:latin typeface="Calibri"/>
              </a:rPr>
              <a:t>Acompanha os agentes: aceitação, joinha e custo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19672" y="4892040"/>
            <a:ext cx="4983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B5452F"/>
                </a:solidFill>
                <a:latin typeface="Calibri"/>
              </a:rPr>
              <a:t>Dor que resolve: </a:t>
            </a:r>
            <a:r>
              <a:rPr sz="1150" b="0" i="0">
                <a:solidFill>
                  <a:srgbClr val="1F2A30"/>
                </a:solidFill>
                <a:latin typeface="Calibri"/>
              </a:rPr>
              <a:t>o banco não engajava a folha nem incentivava a comunicação.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916168" y="3063240"/>
            <a:ext cx="356616" cy="0"/>
          </a:xfrm>
          <a:prstGeom prst="line">
            <a:avLst/>
          </a:prstGeom>
          <a:ln w="25400">
            <a:solidFill>
              <a:srgbClr val="1B7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H="1">
            <a:off x="5916168" y="3886200"/>
            <a:ext cx="356616" cy="0"/>
          </a:xfrm>
          <a:prstGeom prst="line">
            <a:avLst/>
          </a:prstGeom>
          <a:ln w="25400">
            <a:solidFill>
              <a:srgbClr val="C9821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548640" y="5577840"/>
            <a:ext cx="11091672" cy="694944"/>
          </a:xfrm>
          <a:prstGeom prst="roundRect">
            <a:avLst>
              <a:gd name="adj" fmla="val 3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2960" y="5577840"/>
            <a:ext cx="1060704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7FC4B8"/>
                </a:solidFill>
                <a:latin typeface="Calibri"/>
              </a:rPr>
              <a:t>Humano no circuito (human in the loop):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o agente propõe, a regra confere e a pessoa decide. Nenhum agente aceita, envia, aprova ou publica sozinho.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MAPA DOS AGENTES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Cada agente entra num ponto da jornada, com uma missão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87451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1 · Envio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50592" y="1572768"/>
            <a:ext cx="320040" cy="0"/>
          </a:xfrm>
          <a:prstGeom prst="line">
            <a:avLst/>
          </a:prstGeom>
          <a:ln w="19050">
            <a:solidFill>
              <a:srgbClr val="5E6B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07208" y="1417320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07208" y="1417320"/>
            <a:ext cx="187451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2 · Leitura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09160" y="1572768"/>
            <a:ext cx="320040" cy="0"/>
          </a:xfrm>
          <a:prstGeom prst="line">
            <a:avLst/>
          </a:prstGeom>
          <a:ln w="19050">
            <a:solidFill>
              <a:srgbClr val="5E6B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65776" y="1417320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65776" y="1417320"/>
            <a:ext cx="187451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3 · Colunas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67728" y="1572768"/>
            <a:ext cx="320040" cy="0"/>
          </a:xfrm>
          <a:prstGeom prst="line">
            <a:avLst/>
          </a:prstGeom>
          <a:ln w="19050">
            <a:solidFill>
              <a:srgbClr val="5E6B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24344" y="1417320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24344" y="1417320"/>
            <a:ext cx="187451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4 · Pendências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26296" y="1572768"/>
            <a:ext cx="320040" cy="0"/>
          </a:xfrm>
          <a:prstGeom prst="line">
            <a:avLst/>
          </a:prstGeom>
          <a:ln w="19050">
            <a:solidFill>
              <a:srgbClr val="5E6B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582912" y="1417320"/>
            <a:ext cx="1874519" cy="310896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82912" y="1417320"/>
            <a:ext cx="187451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5 · Materiais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1901952"/>
            <a:ext cx="3593592" cy="2084831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85800" y="2039112"/>
            <a:ext cx="420624" cy="420624"/>
          </a:xfrm>
          <a:prstGeom prst="ellipse">
            <a:avLst/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62" y="2148474"/>
            <a:ext cx="201899" cy="2018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07007" y="1993392"/>
            <a:ext cx="281635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A30"/>
                </a:solidFill>
                <a:latin typeface="Calibri"/>
              </a:rPr>
              <a:t>Guardrail (a portaria)</a:t>
            </a:r>
          </a:p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1 · Toda entrada  ·  lista + Bedrock Guardrails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560320"/>
            <a:ext cx="331927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00" b="1" i="0">
                <a:solidFill>
                  <a:srgbClr val="1B7A6E"/>
                </a:solidFill>
                <a:latin typeface="Calibri"/>
              </a:rPr>
              <a:t>Missão: </a:t>
            </a:r>
            <a:r>
              <a:rPr sz="1000" b="0" i="0">
                <a:solidFill>
                  <a:srgbClr val="1F2A30"/>
                </a:solidFill>
                <a:latin typeface="Calibri"/>
              </a:rPr>
              <a:t>Barrar ordens escondidas para a IA em arquivos e mensagens.</a:t>
            </a:r>
          </a:p>
          <a:p>
            <a:pPr algn="l">
              <a:spcAft>
                <a:spcPts val="250"/>
              </a:spcAft>
            </a:pPr>
            <a:r>
              <a:rPr sz="1000" b="1" i="0">
                <a:solidFill>
                  <a:srgbClr val="B5452F"/>
                </a:solidFill>
                <a:latin typeface="Calibri"/>
              </a:rPr>
              <a:t>Dor: </a:t>
            </a:r>
            <a:r>
              <a:rPr sz="1000" b="0" i="0">
                <a:solidFill>
                  <a:srgbClr val="1F2A30"/>
                </a:solidFill>
                <a:latin typeface="Calibri"/>
              </a:rPr>
              <a:t>Um texto de fora mandar na IA (injeção de prompt).</a:t>
            </a:r>
          </a:p>
          <a:p>
            <a:pPr algn="l">
              <a:spcAft>
                <a:spcPts val="250"/>
              </a:spcAft>
            </a:pPr>
            <a:r>
              <a:rPr sz="1000" b="1" i="0">
                <a:solidFill>
                  <a:srgbClr val="1F2A30"/>
                </a:solidFill>
                <a:latin typeface="Calibri"/>
              </a:rPr>
              <a:t>Como: </a:t>
            </a:r>
            <a:r>
              <a:rPr sz="1000" b="0" i="0">
                <a:solidFill>
                  <a:srgbClr val="1F2A30"/>
                </a:solidFill>
                <a:latin typeface="Calibri"/>
              </a:rPr>
              <a:t>A lista pega a ordem clara; o detector da AWS, a disfarçada; o texto de fora vai à IA como dado.</a:t>
            </a:r>
          </a:p>
        </p:txBody>
      </p:sp>
      <p:sp>
        <p:nvSpPr>
          <p:cNvPr id="23" name="Rounded Rectangle 22">
            <a:hlinkClick r:id="rId4" action="ppaction://hlinksldjump"/>
          </p:cNvPr>
          <p:cNvSpPr/>
          <p:nvPr/>
        </p:nvSpPr>
        <p:spPr>
          <a:xfrm>
            <a:off x="2926080" y="3621023"/>
            <a:ext cx="1097280" cy="265176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Ver mais</a:t>
            </a:r>
          </a:p>
        </p:txBody>
      </p:sp>
      <p:pic>
        <p:nvPicPr>
          <p:cNvPr id="24" name="Picture 23" descr="ver_mais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2384" y="3684666"/>
            <a:ext cx="137891" cy="137891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4297679" y="1901952"/>
            <a:ext cx="3593592" cy="2084831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434840" y="2039112"/>
            <a:ext cx="420624" cy="420624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4202" y="2148474"/>
            <a:ext cx="201899" cy="20189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56047" y="1993392"/>
            <a:ext cx="281635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A30"/>
                </a:solidFill>
                <a:latin typeface="Calibri"/>
              </a:rPr>
              <a:t>Agente Leitor</a:t>
            </a:r>
          </a:p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2 · Leitura  ·  Nova 2 Lite divide · Sonnet 4.6 lê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560320"/>
            <a:ext cx="331927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00" b="1" i="0">
                <a:solidFill>
                  <a:srgbClr val="1B7A6E"/>
                </a:solidFill>
                <a:latin typeface="Calibri"/>
              </a:rPr>
              <a:t>Missão: </a:t>
            </a:r>
            <a:r>
              <a:rPr sz="1000" b="0" i="0">
                <a:solidFill>
                  <a:srgbClr val="1F2A30"/>
                </a:solidFill>
                <a:latin typeface="Calibri"/>
              </a:rPr>
              <a:t>Transformar um Word em texto corrido numa lista de funcionários.</a:t>
            </a:r>
          </a:p>
          <a:p>
            <a:pPr algn="l">
              <a:spcAft>
                <a:spcPts val="250"/>
              </a:spcAft>
            </a:pPr>
            <a:r>
              <a:rPr sz="1000" b="1" i="0">
                <a:solidFill>
                  <a:srgbClr val="B5452F"/>
                </a:solidFill>
                <a:latin typeface="Calibri"/>
              </a:rPr>
              <a:t>Dor: </a:t>
            </a:r>
            <a:r>
              <a:rPr sz="1000" b="0" i="0">
                <a:solidFill>
                  <a:srgbClr val="1F2A30"/>
                </a:solidFill>
                <a:latin typeface="Calibri"/>
              </a:rPr>
              <a:t>O documento que não é planilha voltava para a empresa.</a:t>
            </a:r>
          </a:p>
          <a:p>
            <a:pPr algn="l">
              <a:spcAft>
                <a:spcPts val="250"/>
              </a:spcAft>
            </a:pPr>
            <a:r>
              <a:rPr sz="1000" b="1" i="0">
                <a:solidFill>
                  <a:srgbClr val="1F2A30"/>
                </a:solidFill>
                <a:latin typeface="Calibri"/>
              </a:rPr>
              <a:t>Como: </a:t>
            </a:r>
            <a:r>
              <a:rPr sz="1000" b="0" i="0">
                <a:solidFill>
                  <a:srgbClr val="1F2A30"/>
                </a:solidFill>
                <a:latin typeface="Calibri"/>
              </a:rPr>
              <a:t>A IA pequena divide por pessoa, a grande lê; o valor é copiado do documento pelo código.</a:t>
            </a:r>
          </a:p>
        </p:txBody>
      </p:sp>
      <p:sp>
        <p:nvSpPr>
          <p:cNvPr id="30" name="Rounded Rectangle 29">
            <a:hlinkClick r:id="rId7" action="ppaction://hlinksldjump"/>
          </p:cNvPr>
          <p:cNvSpPr/>
          <p:nvPr/>
        </p:nvSpPr>
        <p:spPr>
          <a:xfrm>
            <a:off x="6675119" y="3621023"/>
            <a:ext cx="1097280" cy="265176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Ver ficha</a:t>
            </a:r>
          </a:p>
        </p:txBody>
      </p:sp>
      <p:pic>
        <p:nvPicPr>
          <p:cNvPr id="31" name="Picture 30" descr="ver_mais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23" y="3684666"/>
            <a:ext cx="137891" cy="137891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8046719" y="1901952"/>
            <a:ext cx="3593592" cy="2084831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183879" y="2039112"/>
            <a:ext cx="420624" cy="420624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3242" y="2148474"/>
            <a:ext cx="201899" cy="20189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705088" y="1993392"/>
            <a:ext cx="281635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A30"/>
                </a:solidFill>
                <a:latin typeface="Calibri"/>
              </a:rPr>
              <a:t>Agente Conferidor</a:t>
            </a:r>
          </a:p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2 · Leitura  ·  Nova 2 Lite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2560320"/>
            <a:ext cx="331927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00" b="1" i="0">
                <a:solidFill>
                  <a:srgbClr val="1B7A6E"/>
                </a:solidFill>
                <a:latin typeface="Calibri"/>
              </a:rPr>
              <a:t>Missão: </a:t>
            </a:r>
            <a:r>
              <a:rPr sz="1000" b="0" i="0">
                <a:solidFill>
                  <a:srgbClr val="1F2A30"/>
                </a:solidFill>
                <a:latin typeface="Calibri"/>
              </a:rPr>
              <a:t>Desconfiar da leitura antes que ela vire cadastro.</a:t>
            </a:r>
          </a:p>
          <a:p>
            <a:pPr algn="l">
              <a:spcAft>
                <a:spcPts val="250"/>
              </a:spcAft>
            </a:pPr>
            <a:r>
              <a:rPr sz="1000" b="1" i="0">
                <a:solidFill>
                  <a:srgbClr val="B5452F"/>
                </a:solidFill>
                <a:latin typeface="Calibri"/>
              </a:rPr>
              <a:t>Dor: </a:t>
            </a:r>
            <a:r>
              <a:rPr sz="1000" b="0" i="0">
                <a:solidFill>
                  <a:srgbClr val="1F2A30"/>
                </a:solidFill>
                <a:latin typeface="Calibri"/>
              </a:rPr>
              <a:t>Um erro de leitura que vira cadastro errado sem ninguém ver.</a:t>
            </a:r>
          </a:p>
          <a:p>
            <a:pPr algn="l">
              <a:spcAft>
                <a:spcPts val="250"/>
              </a:spcAft>
            </a:pPr>
            <a:r>
              <a:rPr sz="1000" b="1" i="0">
                <a:solidFill>
                  <a:srgbClr val="1F2A30"/>
                </a:solidFill>
                <a:latin typeface="Calibri"/>
              </a:rPr>
              <a:t>Como: </a:t>
            </a:r>
            <a:r>
              <a:rPr sz="1000" b="0" i="0">
                <a:solidFill>
                  <a:srgbClr val="1F2A30"/>
                </a:solidFill>
                <a:latin typeface="Calibri"/>
              </a:rPr>
              <a:t>Uma segunda IA compara o documento com o lido; só a dúvida forte vira pergunta simples.</a:t>
            </a:r>
          </a:p>
        </p:txBody>
      </p:sp>
      <p:sp>
        <p:nvSpPr>
          <p:cNvPr id="37" name="Rounded Rectangle 36">
            <a:hlinkClick r:id="rId9" action="ppaction://hlinksldjump"/>
          </p:cNvPr>
          <p:cNvSpPr/>
          <p:nvPr/>
        </p:nvSpPr>
        <p:spPr>
          <a:xfrm>
            <a:off x="10424159" y="3621023"/>
            <a:ext cx="1097280" cy="265176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Ver ficha</a:t>
            </a:r>
          </a:p>
        </p:txBody>
      </p:sp>
      <p:pic>
        <p:nvPicPr>
          <p:cNvPr id="38" name="Picture 37" descr="ver_mais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463" y="3684666"/>
            <a:ext cx="137891" cy="137891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548640" y="4114800"/>
            <a:ext cx="3593592" cy="2084831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85800" y="4251960"/>
            <a:ext cx="420624" cy="420624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162" y="4361322"/>
            <a:ext cx="201899" cy="20189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207007" y="4206240"/>
            <a:ext cx="281635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A30"/>
                </a:solidFill>
                <a:latin typeface="Calibri"/>
              </a:rPr>
              <a:t>Agente Interpretador</a:t>
            </a:r>
          </a:p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3 · Colunas  ·  Claude Sonnet 4.6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4773168"/>
            <a:ext cx="331927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00" b="1" i="0">
                <a:solidFill>
                  <a:srgbClr val="1B7A6E"/>
                </a:solidFill>
                <a:latin typeface="Calibri"/>
              </a:rPr>
              <a:t>Missão: </a:t>
            </a:r>
            <a:r>
              <a:rPr sz="1000" b="0" i="0">
                <a:solidFill>
                  <a:srgbClr val="1F2A30"/>
                </a:solidFill>
                <a:latin typeface="Calibri"/>
              </a:rPr>
              <a:t>Ligar cada coluna do arquivo ao campo certo do parâmetro do banco.</a:t>
            </a:r>
          </a:p>
          <a:p>
            <a:pPr algn="l">
              <a:spcAft>
                <a:spcPts val="250"/>
              </a:spcAft>
            </a:pPr>
            <a:r>
              <a:rPr sz="1000" b="1" i="0">
                <a:solidFill>
                  <a:srgbClr val="B5452F"/>
                </a:solidFill>
                <a:latin typeface="Calibri"/>
              </a:rPr>
              <a:t>Dor: </a:t>
            </a:r>
            <a:r>
              <a:rPr sz="1000" b="0" i="0">
                <a:solidFill>
                  <a:srgbClr val="1F2A30"/>
                </a:solidFill>
                <a:latin typeface="Calibri"/>
              </a:rPr>
              <a:t>Cada sistema de RH dá nomes diferentes às mesmas informações.</a:t>
            </a:r>
          </a:p>
          <a:p>
            <a:pPr algn="l">
              <a:spcAft>
                <a:spcPts val="250"/>
              </a:spcAft>
            </a:pPr>
            <a:r>
              <a:rPr sz="1000" b="1" i="0">
                <a:solidFill>
                  <a:srgbClr val="1F2A30"/>
                </a:solidFill>
                <a:latin typeface="Calibri"/>
              </a:rPr>
              <a:t>Como: </a:t>
            </a:r>
            <a:r>
              <a:rPr sz="1000" b="0" i="0">
                <a:solidFill>
                  <a:srgbClr val="1F2A30"/>
                </a:solidFill>
                <a:latin typeface="Calibri"/>
              </a:rPr>
              <a:t>RAG no parâmetro e nos mapeamentos aprovados; formato garantido; a dúvida vira pergunta.</a:t>
            </a:r>
          </a:p>
        </p:txBody>
      </p:sp>
      <p:sp>
        <p:nvSpPr>
          <p:cNvPr id="44" name="Rounded Rectangle 43">
            <a:hlinkClick r:id="rId11" action="ppaction://hlinksldjump"/>
          </p:cNvPr>
          <p:cNvSpPr/>
          <p:nvPr/>
        </p:nvSpPr>
        <p:spPr>
          <a:xfrm>
            <a:off x="2926080" y="5833871"/>
            <a:ext cx="1097280" cy="265176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Ver ficha</a:t>
            </a:r>
          </a:p>
        </p:txBody>
      </p:sp>
      <p:pic>
        <p:nvPicPr>
          <p:cNvPr id="45" name="Picture 44" descr="ver_mais.png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2384" y="5897514"/>
            <a:ext cx="137891" cy="137891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4297679" y="4114800"/>
            <a:ext cx="3593592" cy="2084831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434840" y="4251960"/>
            <a:ext cx="420624" cy="420624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44202" y="4361322"/>
            <a:ext cx="201899" cy="20189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7" y="4206240"/>
            <a:ext cx="281635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A30"/>
                </a:solidFill>
                <a:latin typeface="Calibri"/>
              </a:rPr>
              <a:t>Agente de validação</a:t>
            </a:r>
          </a:p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4 · Pendências  ·  Claude Sonnet 4.6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4773168"/>
            <a:ext cx="331927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00" b="1" i="0">
                <a:solidFill>
                  <a:srgbClr val="1B7A6E"/>
                </a:solidFill>
                <a:latin typeface="Calibri"/>
              </a:rPr>
              <a:t>Missão: </a:t>
            </a:r>
            <a:r>
              <a:rPr sz="1000" b="0" i="0">
                <a:solidFill>
                  <a:srgbClr val="1F2A30"/>
                </a:solidFill>
                <a:latin typeface="Calibri"/>
              </a:rPr>
              <a:t>Conversar com a empresa sobre cada pendência até o dado ficar certo.</a:t>
            </a:r>
          </a:p>
          <a:p>
            <a:pPr algn="l">
              <a:spcAft>
                <a:spcPts val="250"/>
              </a:spcAft>
            </a:pPr>
            <a:r>
              <a:rPr sz="1000" b="1" i="0">
                <a:solidFill>
                  <a:srgbClr val="B5452F"/>
                </a:solidFill>
                <a:latin typeface="Calibri"/>
              </a:rPr>
              <a:t>Dor: </a:t>
            </a:r>
            <a:r>
              <a:rPr sz="1000" b="0" i="0">
                <a:solidFill>
                  <a:srgbClr val="1F2A30"/>
                </a:solidFill>
                <a:latin typeface="Calibri"/>
              </a:rPr>
              <a:t>A validação travava sem explicar o que faltava.</a:t>
            </a:r>
          </a:p>
          <a:p>
            <a:pPr algn="l">
              <a:spcAft>
                <a:spcPts val="250"/>
              </a:spcAft>
            </a:pPr>
            <a:r>
              <a:rPr sz="1000" b="1" i="0">
                <a:solidFill>
                  <a:srgbClr val="1F2A30"/>
                </a:solidFill>
                <a:latin typeface="Calibri"/>
              </a:rPr>
              <a:t>Como: </a:t>
            </a:r>
            <a:r>
              <a:rPr sz="1000" b="0" i="0">
                <a:solidFill>
                  <a:srgbClr val="1F2A30"/>
                </a:solidFill>
                <a:latin typeface="Calibri"/>
              </a:rPr>
              <a:t>Confere o valor com as regras na hora, aplica com Desfazer e encerra após 3 respostas sem valor.</a:t>
            </a:r>
          </a:p>
        </p:txBody>
      </p:sp>
      <p:sp>
        <p:nvSpPr>
          <p:cNvPr id="51" name="Rounded Rectangle 50">
            <a:hlinkClick r:id="rId13" action="ppaction://hlinksldjump"/>
          </p:cNvPr>
          <p:cNvSpPr/>
          <p:nvPr/>
        </p:nvSpPr>
        <p:spPr>
          <a:xfrm>
            <a:off x="6675119" y="5833871"/>
            <a:ext cx="1097280" cy="265176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Ver ficha</a:t>
            </a:r>
          </a:p>
        </p:txBody>
      </p:sp>
      <p:pic>
        <p:nvPicPr>
          <p:cNvPr id="52" name="Picture 51" descr="ver_mais.png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23" y="5897514"/>
            <a:ext cx="137891" cy="137891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8046719" y="4114800"/>
            <a:ext cx="3593592" cy="2084831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183879" y="4251960"/>
            <a:ext cx="420624" cy="420624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93242" y="4361322"/>
            <a:ext cx="201899" cy="20189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705088" y="4206240"/>
            <a:ext cx="2816352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2A30"/>
                </a:solidFill>
                <a:latin typeface="Calibri"/>
              </a:rPr>
              <a:t>Agente de Endomarketing</a:t>
            </a:r>
          </a:p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5 · Materiais (banco)  ·  Claude Sonnet 4.6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83879" y="4773168"/>
            <a:ext cx="331927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000" b="1" i="0">
                <a:solidFill>
                  <a:srgbClr val="1B7A6E"/>
                </a:solidFill>
                <a:latin typeface="Calibri"/>
              </a:rPr>
              <a:t>Missão: </a:t>
            </a:r>
            <a:r>
              <a:rPr sz="1000" b="0" i="0">
                <a:solidFill>
                  <a:srgbClr val="1F2A30"/>
                </a:solidFill>
                <a:latin typeface="Calibri"/>
              </a:rPr>
              <a:t>Escrever os materiais que a empresa divulga aos funcionários.</a:t>
            </a:r>
          </a:p>
          <a:p>
            <a:pPr algn="l">
              <a:spcAft>
                <a:spcPts val="250"/>
              </a:spcAft>
            </a:pPr>
            <a:r>
              <a:rPr sz="1000" b="1" i="0">
                <a:solidFill>
                  <a:srgbClr val="B5452F"/>
                </a:solidFill>
                <a:latin typeface="Calibri"/>
              </a:rPr>
              <a:t>Dor: </a:t>
            </a:r>
            <a:r>
              <a:rPr sz="1000" b="0" i="0">
                <a:solidFill>
                  <a:srgbClr val="1F2A30"/>
                </a:solidFill>
                <a:latin typeface="Calibri"/>
              </a:rPr>
              <a:t>O banco não incentivava a empresa a comunicar a parceria.</a:t>
            </a:r>
          </a:p>
          <a:p>
            <a:pPr algn="l">
              <a:spcAft>
                <a:spcPts val="250"/>
              </a:spcAft>
            </a:pPr>
            <a:r>
              <a:rPr sz="1000" b="1" i="0">
                <a:solidFill>
                  <a:srgbClr val="1F2A30"/>
                </a:solidFill>
                <a:latin typeface="Calibri"/>
              </a:rPr>
              <a:t>Como: </a:t>
            </a:r>
            <a:r>
              <a:rPr sz="1000" b="0" i="0">
                <a:solidFill>
                  <a:srgbClr val="1F2A30"/>
                </a:solidFill>
                <a:latin typeface="Calibri"/>
              </a:rPr>
              <a:t>RAG só no catálogo da empresa, fonte em cada bloco; o especialista confere e publica.</a:t>
            </a:r>
          </a:p>
        </p:txBody>
      </p:sp>
      <p:sp>
        <p:nvSpPr>
          <p:cNvPr id="58" name="Rounded Rectangle 57">
            <a:hlinkClick r:id="rId15" action="ppaction://hlinksldjump"/>
          </p:cNvPr>
          <p:cNvSpPr/>
          <p:nvPr/>
        </p:nvSpPr>
        <p:spPr>
          <a:xfrm>
            <a:off x="10424159" y="5833871"/>
            <a:ext cx="1097280" cy="265176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Ver ficha</a:t>
            </a:r>
          </a:p>
        </p:txBody>
      </p:sp>
      <p:pic>
        <p:nvPicPr>
          <p:cNvPr id="59" name="Picture 58" descr="ver_mais.png">
            <a:hlinkClick r:id="rId15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463" y="5897514"/>
            <a:ext cx="137891" cy="137891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ARQUITETURA ATUAL DO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F2A30"/>
                </a:solidFill>
                <a:latin typeface="Cambria"/>
              </a:rPr>
              <a:t>Hoje: uma máquina na AWS, e só o Caddy fala com a internet</a:t>
            </a:r>
          </a:p>
        </p:txBody>
      </p:sp>
      <p:pic>
        <p:nvPicPr>
          <p:cNvPr id="4" name="Picture 3" descr="desenho_hoj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833" y="1353312"/>
            <a:ext cx="7404027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1100" b="1" i="0" spc="200" dirty="0">
                <a:solidFill>
                  <a:srgbClr val="1B7A6E"/>
                </a:solidFill>
                <a:latin typeface="Calibri"/>
              </a:rPr>
              <a:t>EVOLUÇÃO DA </a:t>
            </a:r>
            <a:r>
              <a:rPr sz="1100" b="1" i="0" spc="200" dirty="0">
                <a:solidFill>
                  <a:srgbClr val="1B7A6E"/>
                </a:solidFill>
                <a:latin typeface="Calibri"/>
              </a:rPr>
              <a:t>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BR" sz="2800" b="1" i="0" dirty="0">
                <a:solidFill>
                  <a:srgbClr val="1F2A30"/>
                </a:solidFill>
                <a:latin typeface="Cambria"/>
              </a:rPr>
              <a:t>A mesma aplicação, com as camadas corporativas</a:t>
            </a:r>
            <a:endParaRPr sz="2800" b="1" i="0" dirty="0">
              <a:solidFill>
                <a:srgbClr val="1F2A30"/>
              </a:solidFill>
              <a:latin typeface="Cambria"/>
            </a:endParaRPr>
          </a:p>
        </p:txBody>
      </p:sp>
      <p:pic>
        <p:nvPicPr>
          <p:cNvPr id="4" name="Picture 3" descr="desenho_produ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499" y="1353312"/>
            <a:ext cx="8226697" cy="498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TESTES E MÉTRICAS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O que medimos, e o que cada teste provou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93592" cy="2084831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1545336"/>
            <a:ext cx="3227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GANHO DA IA POR TIPO DE ARQUIVO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319125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7A6E"/>
                </a:solidFill>
                <a:latin typeface="Cambria"/>
              </a:rPr>
              <a:t>0% → 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23160"/>
            <a:ext cx="3191256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A30"/>
                </a:solidFill>
                <a:latin typeface="Calibri"/>
              </a:rPr>
              <a:t>das pessoas com os 4 obrigatórios certos quando o arquivo foge do padrão, com 0 erro silencioso. No padrão do banco, empate em 100%.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36392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5E6B70"/>
                </a:solidFill>
                <a:latin typeface="Calibri"/>
              </a:rPr>
              <a:t>EXP-021 · 35 arquivos, 7 tipos</a:t>
            </a:r>
          </a:p>
        </p:txBody>
      </p:sp>
      <p:sp>
        <p:nvSpPr>
          <p:cNvPr id="9" name="Rounded Rectangle 8">
            <a:hlinkClick r:id="rId3" action="ppaction://hlinksldjump"/>
          </p:cNvPr>
          <p:cNvSpPr/>
          <p:nvPr/>
        </p:nvSpPr>
        <p:spPr>
          <a:xfrm>
            <a:off x="2862072" y="311810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Ver mais</a:t>
            </a:r>
          </a:p>
        </p:txBody>
      </p:sp>
      <p:pic>
        <p:nvPicPr>
          <p:cNvPr id="10" name="Picture 9" descr="ver_mais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376" y="3188329"/>
            <a:ext cx="152156" cy="15215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97679" y="1417320"/>
            <a:ext cx="3593592" cy="2084831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98847" y="1545336"/>
            <a:ext cx="3227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INTERPRETADOR DE COLUNAS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7" y="1828800"/>
            <a:ext cx="319125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7A6E"/>
                </a:solidFill>
                <a:latin typeface="Cambria"/>
              </a:rPr>
              <a:t>82,9% × 53,4%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7" y="2423160"/>
            <a:ext cx="3191256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A30"/>
                </a:solidFill>
                <a:latin typeface="Calibri"/>
              </a:rPr>
              <a:t>de acerto por campo com IA × dicionário sem IA, nas mesmas 30 planilhas. 11 modelos medidos.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7" y="3136392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5E6B70"/>
                </a:solidFill>
                <a:latin typeface="Calibri"/>
              </a:rPr>
              <a:t>EXP-014 · EXP-008</a:t>
            </a:r>
          </a:p>
        </p:txBody>
      </p:sp>
      <p:sp>
        <p:nvSpPr>
          <p:cNvPr id="16" name="Rounded Rectangle 15">
            <a:hlinkClick r:id="rId5" action="ppaction://hlinksldjump"/>
          </p:cNvPr>
          <p:cNvSpPr/>
          <p:nvPr/>
        </p:nvSpPr>
        <p:spPr>
          <a:xfrm>
            <a:off x="6611111" y="311810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Ver mais</a:t>
            </a:r>
          </a:p>
        </p:txBody>
      </p:sp>
      <p:pic>
        <p:nvPicPr>
          <p:cNvPr id="17" name="Picture 16" descr="ver_mais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5" y="3188329"/>
            <a:ext cx="152156" cy="15215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46719" y="1417320"/>
            <a:ext cx="3593592" cy="2084831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8" y="1545336"/>
            <a:ext cx="3227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LEITURA DE DOCUMENTOS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1828800"/>
            <a:ext cx="319125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7A6E"/>
                </a:solidFill>
                <a:latin typeface="Cambria"/>
              </a:rPr>
              <a:t>99,8%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423160"/>
            <a:ext cx="3191256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A30"/>
                </a:solidFill>
                <a:latin typeface="Calibri"/>
              </a:rPr>
              <a:t>por campo no Word em texto corrido, e 98,9% no texto misturado com armadilhas.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136392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5E6B70"/>
                </a:solidFill>
                <a:latin typeface="Calibri"/>
              </a:rPr>
              <a:t>EXP-021 · EXP-010 · o limite no EXP-017</a:t>
            </a:r>
          </a:p>
        </p:txBody>
      </p:sp>
      <p:sp>
        <p:nvSpPr>
          <p:cNvPr id="23" name="Rounded Rectangle 22">
            <a:hlinkClick r:id="rId6" action="ppaction://hlinksldjump"/>
          </p:cNvPr>
          <p:cNvSpPr/>
          <p:nvPr/>
        </p:nvSpPr>
        <p:spPr>
          <a:xfrm>
            <a:off x="10360151" y="311810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Ver mais</a:t>
            </a:r>
          </a:p>
        </p:txBody>
      </p:sp>
      <p:pic>
        <p:nvPicPr>
          <p:cNvPr id="24" name="Picture 23" descr="ver_mais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6455" y="3188329"/>
            <a:ext cx="152156" cy="152156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48640" y="3630168"/>
            <a:ext cx="3593592" cy="2084831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3758183"/>
            <a:ext cx="3227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CONFERIDOR DA LEITURA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041648"/>
            <a:ext cx="319125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7A6E"/>
                </a:solidFill>
                <a:latin typeface="Cambria"/>
              </a:rPr>
              <a:t>0 alarme falso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636008"/>
            <a:ext cx="3191256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A30"/>
                </a:solidFill>
                <a:latin typeface="Calibri"/>
              </a:rPr>
              <a:t>com todos os erros de verdade achados (5 de 5 e 18 de 18), nas 3 repetições.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349240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5E6B70"/>
                </a:solidFill>
                <a:latin typeface="Calibri"/>
              </a:rPr>
              <a:t>EXP-016 · reconfirmado no EXP-018</a:t>
            </a:r>
          </a:p>
        </p:txBody>
      </p:sp>
      <p:sp>
        <p:nvSpPr>
          <p:cNvPr id="30" name="Rounded Rectangle 29">
            <a:hlinkClick r:id="rId7" action="ppaction://hlinksldjump"/>
          </p:cNvPr>
          <p:cNvSpPr/>
          <p:nvPr/>
        </p:nvSpPr>
        <p:spPr>
          <a:xfrm>
            <a:off x="2862072" y="53309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Ver mais</a:t>
            </a:r>
          </a:p>
        </p:txBody>
      </p:sp>
      <p:pic>
        <p:nvPicPr>
          <p:cNvPr id="31" name="Picture 30" descr="ver_mais.png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376" y="5401177"/>
            <a:ext cx="152156" cy="152156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4297679" y="3630168"/>
            <a:ext cx="3593592" cy="2084831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98847" y="3758183"/>
            <a:ext cx="3227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ENDOMARKETING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7" y="4041648"/>
            <a:ext cx="319125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7A6E"/>
                </a:solidFill>
                <a:latin typeface="Cambria"/>
              </a:rPr>
              <a:t>0,87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7" y="4636008"/>
            <a:ext cx="3191256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A30"/>
                </a:solidFill>
                <a:latin typeface="Calibri"/>
              </a:rPr>
              <a:t>de fidelidade à fonte citada (RAGAS; o juiz de IA é filtro, não régua). 4.440 combinações testadas.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98847" y="5349240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5E6B70"/>
                </a:solidFill>
                <a:latin typeface="Calibri"/>
              </a:rPr>
              <a:t>EXP-019 · EXP-020 · ADR-150 e 152</a:t>
            </a:r>
          </a:p>
        </p:txBody>
      </p:sp>
      <p:sp>
        <p:nvSpPr>
          <p:cNvPr id="37" name="Rounded Rectangle 36">
            <a:hlinkClick r:id="rId8" action="ppaction://hlinksldjump"/>
          </p:cNvPr>
          <p:cNvSpPr/>
          <p:nvPr/>
        </p:nvSpPr>
        <p:spPr>
          <a:xfrm>
            <a:off x="6611111" y="53309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Ver mais</a:t>
            </a:r>
          </a:p>
        </p:txBody>
      </p:sp>
      <p:pic>
        <p:nvPicPr>
          <p:cNvPr id="38" name="Picture 37" descr="ver_mais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415" y="5401177"/>
            <a:ext cx="152156" cy="152156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8046719" y="3630168"/>
            <a:ext cx="3593592" cy="2084831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47888" y="3758183"/>
            <a:ext cx="32278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SEGURANÇA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4041648"/>
            <a:ext cx="319125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B7A6E"/>
                </a:solidFill>
                <a:latin typeface="Cambria"/>
              </a:rPr>
              <a:t>11 de 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47888" y="4636008"/>
            <a:ext cx="3191256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F2A30"/>
                </a:solidFill>
                <a:latin typeface="Calibri"/>
              </a:rPr>
              <a:t>ataques barrados pelo detector do Bedrock Guardrails. 151 testes de segurança: 105 passam, 46 na fila.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47888" y="5349240"/>
            <a:ext cx="208483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1">
                <a:solidFill>
                  <a:srgbClr val="5E6B70"/>
                </a:solidFill>
                <a:latin typeface="Calibri"/>
              </a:rPr>
              <a:t>Detector e bateria de 30/09 · ADR-147</a:t>
            </a:r>
          </a:p>
        </p:txBody>
      </p:sp>
      <p:sp>
        <p:nvSpPr>
          <p:cNvPr id="44" name="Rounded Rectangle 43">
            <a:hlinkClick r:id="rId9" action="ppaction://hlinksldjump"/>
          </p:cNvPr>
          <p:cNvSpPr/>
          <p:nvPr/>
        </p:nvSpPr>
        <p:spPr>
          <a:xfrm>
            <a:off x="10360151" y="53309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Ver mais</a:t>
            </a:r>
          </a:p>
        </p:txBody>
      </p:sp>
      <p:pic>
        <p:nvPicPr>
          <p:cNvPr id="45" name="Picture 44" descr="ver_mais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6455" y="5401177"/>
            <a:ext cx="152156" cy="152156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548640" y="5870448"/>
            <a:ext cx="11091672" cy="402336"/>
          </a:xfrm>
          <a:prstGeom prst="roundRect">
            <a:avLst>
              <a:gd name="adj" fmla="val 3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7240" y="5870448"/>
            <a:ext cx="91440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2.281</a:t>
            </a:r>
            <a:r>
              <a:rPr sz="1150" b="0" i="0">
                <a:solidFill>
                  <a:srgbClr val="CFE3DF"/>
                </a:solidFill>
                <a:latin typeface="Calibri"/>
              </a:rPr>
              <a:t> testes automatizados a cada mudança  ·  </a:t>
            </a:r>
            <a:r>
              <a:rPr sz="1150" b="1" i="0">
                <a:solidFill>
                  <a:srgbClr val="FFFFFF"/>
                </a:solidFill>
                <a:latin typeface="Calibri"/>
              </a:rPr>
              <a:t>22</a:t>
            </a:r>
            <a:r>
              <a:rPr sz="1150" b="0" i="0">
                <a:solidFill>
                  <a:srgbClr val="CFE3DF"/>
                </a:solidFill>
                <a:latin typeface="Calibri"/>
              </a:rPr>
              <a:t> experimentos com a prova congelada  ·  </a:t>
            </a:r>
            <a:r>
              <a:rPr sz="1150" b="1" i="0">
                <a:solidFill>
                  <a:srgbClr val="FFFFFF"/>
                </a:solidFill>
                <a:latin typeface="Calibri"/>
              </a:rPr>
              <a:t>150</a:t>
            </a:r>
            <a:r>
              <a:rPr sz="1150" b="0" i="0">
                <a:solidFill>
                  <a:srgbClr val="CFE3DF"/>
                </a:solidFill>
                <a:latin typeface="Calibri"/>
              </a:rPr>
              <a:t> decisões registradas (ADRs)</a:t>
            </a:r>
          </a:p>
        </p:txBody>
      </p:sp>
      <p:sp>
        <p:nvSpPr>
          <p:cNvPr id="48" name="Rounded Rectangle 47">
            <a:hlinkClick r:id="rId10" action="ppaction://hlinksldjump"/>
          </p:cNvPr>
          <p:cNvSpPr/>
          <p:nvPr/>
        </p:nvSpPr>
        <p:spPr>
          <a:xfrm>
            <a:off x="10131552" y="5925312"/>
            <a:ext cx="1444752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      Como medimos</a:t>
            </a:r>
          </a:p>
        </p:txBody>
      </p:sp>
      <p:pic>
        <p:nvPicPr>
          <p:cNvPr id="49" name="Picture 48" descr="ver_mais.png">
            <a:hlinkClick r:id="rId10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7856" y="5995537"/>
            <a:ext cx="152156" cy="15215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 dirty="0">
                <a:solidFill>
                  <a:srgbClr val="1B7A6E"/>
                </a:solidFill>
                <a:latin typeface="Calibri"/>
              </a:rPr>
              <a:t>OS TÓPICOS DO ENUNCIADO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Prompts, dados, RAG e ética: como cada um foi resolvido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692640" y="365760"/>
            <a:ext cx="1947672" cy="310896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Calibri"/>
              </a:rPr>
              <a:t>      </a:t>
            </a:r>
            <a:r>
              <a:rPr sz="1000" b="1" dirty="0" err="1">
                <a:solidFill>
                  <a:srgbClr val="FFFFFF"/>
                </a:solidFill>
                <a:latin typeface="Calibri"/>
              </a:rPr>
              <a:t>Aderência</a:t>
            </a:r>
            <a:r>
              <a:rPr sz="1000" b="1" dirty="0">
                <a:solidFill>
                  <a:srgbClr val="FFFFFF"/>
                </a:solidFill>
                <a:latin typeface="Calibri"/>
              </a:rPr>
              <a:t> completa</a:t>
            </a:r>
          </a:p>
        </p:txBody>
      </p:sp>
      <p:pic>
        <p:nvPicPr>
          <p:cNvPr id="5" name="Picture 4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944" y="440375"/>
            <a:ext cx="161665" cy="16166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1481328"/>
            <a:ext cx="5486400" cy="2212848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1682496"/>
            <a:ext cx="566928" cy="566928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ngrenage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641" y="1829897"/>
            <a:ext cx="272125" cy="272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08760" y="1682496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F2A30"/>
                </a:solidFill>
                <a:latin typeface="Cambria"/>
              </a:rPr>
              <a:t>Prompts e orquestração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502920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A30"/>
                </a:solidFill>
                <a:latin typeface="Calibri"/>
              </a:rPr>
              <a:t>Prompts versionados no Git, um arquivo por versão. O fluxo da empresa é controlado em LangGraph, pausa para a pessoa decidir e retoma de onde parou. A saída tem formato garantido e contrato: o que foge dele não passa.</a:t>
            </a:r>
          </a:p>
        </p:txBody>
      </p:sp>
      <p:sp>
        <p:nvSpPr>
          <p:cNvPr id="11" name="Rounded Rectangle 10">
            <a:hlinkClick r:id="rId6" action="ppaction://hlinksldjump"/>
          </p:cNvPr>
          <p:cNvSpPr/>
          <p:nvPr/>
        </p:nvSpPr>
        <p:spPr>
          <a:xfrm>
            <a:off x="4709159" y="329184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Ver mais</a:t>
            </a:r>
          </a:p>
        </p:txBody>
      </p:sp>
      <p:pic>
        <p:nvPicPr>
          <p:cNvPr id="12" name="Picture 11" descr="ver_mais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464" y="3362065"/>
            <a:ext cx="152156" cy="15215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53912" y="1481328"/>
            <a:ext cx="5486400" cy="2212848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382512" y="1682496"/>
            <a:ext cx="566928" cy="566928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rasc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9913" y="1829897"/>
            <a:ext cx="272125" cy="2721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14032" y="1682496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F2A30"/>
                </a:solidFill>
                <a:latin typeface="Cambria"/>
              </a:rPr>
              <a:t>Dados da empresa fictícia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377440"/>
            <a:ext cx="502920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A30"/>
                </a:solidFill>
                <a:latin typeface="Calibri"/>
              </a:rPr>
              <a:t>100% sintéticos, gerados com semente fixa: 6 empresas com gabarito, 1.500 cabeçalhos de treino e 300 de prova e a base viva de 17 empresas. Guardados no PostgreSQL e no ChromaDB; cada agente vê só a empresa da sessão.</a:t>
            </a:r>
          </a:p>
        </p:txBody>
      </p:sp>
      <p:sp>
        <p:nvSpPr>
          <p:cNvPr id="18" name="Rounded Rectangle 17">
            <a:hlinkClick r:id="rId9" action="ppaction://hlinksldjump"/>
          </p:cNvPr>
          <p:cNvSpPr/>
          <p:nvPr/>
        </p:nvSpPr>
        <p:spPr>
          <a:xfrm>
            <a:off x="10314432" y="329184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Ver mais</a:t>
            </a:r>
          </a:p>
        </p:txBody>
      </p:sp>
      <p:pic>
        <p:nvPicPr>
          <p:cNvPr id="19" name="Picture 18" descr="ver_mais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0736" y="3362065"/>
            <a:ext cx="152156" cy="15215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48640" y="3840480"/>
            <a:ext cx="5486400" cy="2212848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7240" y="4041648"/>
            <a:ext cx="566928" cy="566928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4641" y="4189049"/>
            <a:ext cx="272125" cy="2721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08760" y="4041648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F2A30"/>
                </a:solidFill>
                <a:latin typeface="Cambria"/>
              </a:rPr>
              <a:t>RAG e avaliação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736592"/>
            <a:ext cx="502920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A30"/>
                </a:solidFill>
                <a:latin typeface="Calibri"/>
              </a:rPr>
              <a:t>RAG no parâmetro, nas regras, nos catálogos e nos mapeamentos aprovados; sem Fine-Tuning nesta versão, porque o conhecimento muda. 22 experimentos com a prova congelada e a régua sem IA ao lado.</a:t>
            </a:r>
          </a:p>
        </p:txBody>
      </p:sp>
      <p:sp>
        <p:nvSpPr>
          <p:cNvPr id="25" name="Rounded Rectangle 24">
            <a:hlinkClick r:id="rId11" action="ppaction://hlinksldjump"/>
          </p:cNvPr>
          <p:cNvSpPr/>
          <p:nvPr/>
        </p:nvSpPr>
        <p:spPr>
          <a:xfrm>
            <a:off x="4709159" y="565099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Ver mais</a:t>
            </a:r>
          </a:p>
        </p:txBody>
      </p:sp>
      <p:pic>
        <p:nvPicPr>
          <p:cNvPr id="26" name="Picture 25" descr="ver_mais.png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464" y="5721217"/>
            <a:ext cx="152156" cy="152156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153912" y="3840480"/>
            <a:ext cx="5486400" cy="2212848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382512" y="4041648"/>
            <a:ext cx="566928" cy="566928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balanc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9913" y="4189049"/>
            <a:ext cx="272125" cy="2721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14032" y="4041648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F2A30"/>
                </a:solidFill>
                <a:latin typeface="Cambria"/>
              </a:rPr>
              <a:t>Ética e privacidade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736592"/>
            <a:ext cx="5029200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F2A30"/>
                </a:solidFill>
                <a:latin typeface="Calibri"/>
              </a:rPr>
              <a:t>A IA pelo Bedrock: o fornecedor não vê o pedido, com retenção zero. Uma empresa nunca vê a outra, o banco planeja só com agregados, e a coluna sem finalidade é descartada (LGPD, art. 6º, III).</a:t>
            </a:r>
          </a:p>
        </p:txBody>
      </p:sp>
      <p:sp>
        <p:nvSpPr>
          <p:cNvPr id="32" name="Rounded Rectangle 31">
            <a:hlinkClick r:id="rId13" action="ppaction://hlinksldjump"/>
          </p:cNvPr>
          <p:cNvSpPr/>
          <p:nvPr/>
        </p:nvSpPr>
        <p:spPr>
          <a:xfrm>
            <a:off x="10314432" y="565099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Ver mais</a:t>
            </a:r>
          </a:p>
        </p:txBody>
      </p:sp>
      <p:pic>
        <p:nvPicPr>
          <p:cNvPr id="33" name="Picture 32" descr="ver_mais.png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0736" y="5721217"/>
            <a:ext cx="152156" cy="15215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DEMONSTRAÇÃO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A ferramenta funcionando, no site oficial</a:t>
            </a:r>
          </a:p>
        </p:txBody>
      </p:sp>
      <p:sp>
        <p:nvSpPr>
          <p:cNvPr id="4" name="Rounded Rectangle 3">
            <a:hlinkClick r:id="rId3"/>
          </p:cNvPr>
          <p:cNvSpPr/>
          <p:nvPr/>
        </p:nvSpPr>
        <p:spPr>
          <a:xfrm>
            <a:off x="548640" y="1508760"/>
            <a:ext cx="3886200" cy="4754880"/>
          </a:xfrm>
          <a:prstGeom prst="roundRect">
            <a:avLst>
              <a:gd name="adj" fmla="val 3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55" y="1973275"/>
            <a:ext cx="351129" cy="3511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6974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50">
                <a:solidFill>
                  <a:srgbClr val="7FC4B8"/>
                </a:solidFill>
                <a:latin typeface="Calibri"/>
              </a:rPr>
              <a:t>AO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Cambria"/>
              </a:rPr>
              <a:t>integrafolha.com.br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33832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FE3DF"/>
                </a:solidFill>
                <a:latin typeface="Calibri"/>
              </a:rPr>
              <a:t>O site publicado na AWS, com os dados 100% sintéticos. As senhas são entregues à banca em separado.</a:t>
            </a:r>
          </a:p>
        </p:txBody>
      </p:sp>
      <p:sp>
        <p:nvSpPr>
          <p:cNvPr id="10" name="Rounded Rectangle 9">
            <a:hlinkClick r:id="rId3"/>
          </p:cNvPr>
          <p:cNvSpPr/>
          <p:nvPr/>
        </p:nvSpPr>
        <p:spPr>
          <a:xfrm>
            <a:off x="822960" y="4983480"/>
            <a:ext cx="3291840" cy="420624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      Abrir o site</a:t>
            </a:r>
          </a:p>
        </p:txBody>
      </p:sp>
      <p:pic>
        <p:nvPicPr>
          <p:cNvPr id="11" name="Picture 10" descr="globo.png">
            <a:hlinkClick r:id="rId3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084429"/>
            <a:ext cx="218724" cy="2187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5577840"/>
            <a:ext cx="3429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7FC4B8"/>
                </a:solidFill>
                <a:latin typeface="Calibri"/>
              </a:rPr>
              <a:t>Plano B: a aplicação na máquina local (o manual, caminho B).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508760"/>
            <a:ext cx="3410712" cy="475488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818888" y="1691640"/>
            <a:ext cx="502920" cy="502920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predi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9647" y="1822399"/>
            <a:ext cx="241401" cy="24140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40680" y="1673352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2A30"/>
                </a:solidFill>
                <a:latin typeface="Calibri"/>
              </a:rPr>
              <a:t>Trilha da empresa</a:t>
            </a:r>
          </a:p>
          <a:p>
            <a:pPr algn="l"/>
            <a:r>
              <a:rPr sz="1100" b="0" i="0">
                <a:solidFill>
                  <a:srgbClr val="5E6B70"/>
                </a:solidFill>
                <a:latin typeface="Consolas"/>
              </a:rPr>
              <a:t>empresa.aurora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18888" y="246888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18888" y="24688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2313432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30"/>
                </a:solidFill>
                <a:latin typeface="Calibri"/>
              </a:rPr>
              <a:t>Envia um Word em texto corrido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18888" y="320040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18888" y="32004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3044952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30"/>
                </a:solidFill>
                <a:latin typeface="Calibri"/>
              </a:rPr>
              <a:t>O Leitor lê e o Conferidor pergunta o que desconfia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18888" y="39319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18888" y="39319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6088" y="3776472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30"/>
                </a:solidFill>
                <a:latin typeface="Calibri"/>
              </a:rPr>
              <a:t>Confere as colunas e os 4 obrigatórios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18888" y="46634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18888" y="466344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6088" y="4507992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30"/>
                </a:solidFill>
                <a:latin typeface="Calibri"/>
              </a:rPr>
              <a:t>Resolve uma pendência com o Agente de validação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18888" y="539496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18888" y="53949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76088" y="5239512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30"/>
                </a:solidFill>
                <a:latin typeface="Calibri"/>
              </a:rPr>
              <a:t>Envia ao banco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1508760"/>
            <a:ext cx="3410712" cy="4754880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85048" y="1691640"/>
            <a:ext cx="502920" cy="502920"/>
          </a:xfrm>
          <a:prstGeom prst="ellipse">
            <a:avLst/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banc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5807" y="1822399"/>
            <a:ext cx="241401" cy="24140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006840" y="1673352"/>
            <a:ext cx="24688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2A30"/>
                </a:solidFill>
                <a:latin typeface="Calibri"/>
              </a:rPr>
              <a:t>Trilha do especialista</a:t>
            </a:r>
          </a:p>
          <a:p>
            <a:pPr algn="l"/>
            <a:r>
              <a:rPr sz="1100" b="0" i="0">
                <a:solidFill>
                  <a:srgbClr val="5E6B70"/>
                </a:solidFill>
                <a:latin typeface="Consolas"/>
              </a:rPr>
              <a:t>especialista.banco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85048" y="246888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85048" y="246888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42248" y="2313432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30"/>
                </a:solidFill>
                <a:latin typeface="Calibri"/>
              </a:rPr>
              <a:t>Avalia o envio: aponta uma pessoa, aprova as outras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85048" y="320040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85048" y="32004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42248" y="3044952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30"/>
                </a:solidFill>
                <a:latin typeface="Calibri"/>
              </a:rPr>
              <a:t>Informa as contas abertas pelo arquivo de retorno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85048" y="39319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85048" y="39319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42248" y="3776472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30"/>
                </a:solidFill>
                <a:latin typeface="Calibri"/>
              </a:rPr>
              <a:t>Gera e publica um material de endomarketing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85048" y="466344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85048" y="466344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42248" y="4507992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F2A30"/>
                </a:solidFill>
                <a:latin typeface="Calibri"/>
              </a:rPr>
              <a:t>Vê a aceitação, o joinha e o custo dos agentes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Um ciclo contínuo: ouvir quem usa, medir e melhorar a 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2651760" cy="178308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709928"/>
            <a:ext cx="530352" cy="530352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join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699" y="1847819"/>
            <a:ext cx="254568" cy="2545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17319" y="1709928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F2A30"/>
                </a:solidFill>
                <a:latin typeface="Cambria"/>
              </a:rPr>
              <a:t>1 · Ouvir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04872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A30"/>
                </a:solidFill>
                <a:latin typeface="Calibri"/>
              </a:rPr>
              <a:t>o joinha e o comentário em cada resposta dos agentes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508760"/>
            <a:ext cx="2651760" cy="178308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13048" y="1709928"/>
            <a:ext cx="530352" cy="530352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grafi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939" y="1847819"/>
            <a:ext cx="254568" cy="254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80560" y="1709928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F2A30"/>
                </a:solidFill>
                <a:latin typeface="Cambria"/>
              </a:rPr>
              <a:t>2 · Medir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404872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A30"/>
                </a:solidFill>
                <a:latin typeface="Calibri"/>
              </a:rPr>
              <a:t>a aceitação, a qualidade e o custo de cada agente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3703320"/>
            <a:ext cx="2651760" cy="178308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813048" y="3904487"/>
            <a:ext cx="530352" cy="530352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engrenage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939" y="4042379"/>
            <a:ext cx="254568" cy="2545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80560" y="3904487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F2A30"/>
                </a:solidFill>
                <a:latin typeface="Cambria"/>
              </a:rPr>
              <a:t>3 · Ajustar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8" y="4599431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A30"/>
                </a:solidFill>
                <a:latin typeface="Calibri"/>
              </a:rPr>
              <a:t>o prompt, o RAG e as regras, numa versão nova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03320"/>
            <a:ext cx="2651760" cy="178308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9808" y="3904487"/>
            <a:ext cx="530352" cy="530352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699" y="4042379"/>
            <a:ext cx="254568" cy="2545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17319" y="3904487"/>
            <a:ext cx="1691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1F2A30"/>
                </a:solidFill>
                <a:latin typeface="Cambria"/>
              </a:rPr>
              <a:t>4 · Provar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599431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F2A30"/>
                </a:solidFill>
                <a:latin typeface="Calibri"/>
              </a:rPr>
              <a:t>a prova congelada e a bateria, antes de publicar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27832" y="2395728"/>
            <a:ext cx="356616" cy="0"/>
          </a:xfrm>
          <a:prstGeom prst="line">
            <a:avLst/>
          </a:prstGeom>
          <a:ln w="25400">
            <a:solidFill>
              <a:srgbClr val="2E9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37760" y="3319272"/>
            <a:ext cx="0" cy="356615"/>
          </a:xfrm>
          <a:prstGeom prst="line">
            <a:avLst/>
          </a:prstGeom>
          <a:ln w="25400">
            <a:solidFill>
              <a:srgbClr val="2E9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3227832" y="4590288"/>
            <a:ext cx="356616" cy="0"/>
          </a:xfrm>
          <a:prstGeom prst="line">
            <a:avLst/>
          </a:prstGeom>
          <a:ln w="25400">
            <a:solidFill>
              <a:srgbClr val="2E9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874519" y="3319272"/>
            <a:ext cx="0" cy="356615"/>
          </a:xfrm>
          <a:prstGeom prst="line">
            <a:avLst/>
          </a:prstGeom>
          <a:ln w="25400">
            <a:solidFill>
              <a:srgbClr val="2E9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044952" y="3136392"/>
            <a:ext cx="731520" cy="731520"/>
          </a:xfrm>
          <a:prstGeom prst="ellipse">
            <a:avLst/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cicl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5147" y="3326587"/>
            <a:ext cx="351129" cy="351129"/>
          </a:xfrm>
          <a:prstGeom prst="rect">
            <a:avLst/>
          </a:prstGeom>
        </p:spPr>
      </p:pic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400800" y="1508760"/>
          <a:ext cx="5239511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3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4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15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 que mostra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Onde está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2A30"/>
                          </a:solidFill>
                          <a:latin typeface="Calibri"/>
                        </a:rPr>
                        <a:t>Pessoas com os 4 obrigatórios certos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a qualidade que importa ao banco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prova por tipo (EXP-021)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2A30"/>
                          </a:solidFill>
                          <a:latin typeface="Calibri"/>
                        </a:rPr>
                        <a:t>Erro silencioso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pronto com um obrigatório errado: a meta é 0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prova por tipo (EXP-021)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2A30"/>
                          </a:solidFill>
                          <a:latin typeface="Calibri"/>
                        </a:rPr>
                        <a:t>Aceitação por agente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aprovadas, corrigidas e recusadas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Acompanhamento dos agentes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2A30"/>
                          </a:solidFill>
                          <a:latin typeface="Calibri"/>
                        </a:rPr>
                        <a:t>Satisfação (joinha)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a opinião de quem usa, em 12 semanas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Acompanhamento dos agentes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2A30"/>
                          </a:solidFill>
                          <a:latin typeface="Calibri"/>
                        </a:rPr>
                        <a:t>Perguntas por arquivo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o trabalho que sobra para a empresa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Telemetria e prova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2A30"/>
                          </a:solidFill>
                          <a:latin typeface="Calibri"/>
                        </a:rPr>
                        <a:t>Custo e tempo por funcionário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a eficiência, com teto por dia e mês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Teto de custo com agentes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2A30"/>
                          </a:solidFill>
                          <a:latin typeface="Calibri"/>
                        </a:rPr>
                        <a:t>Desistência das empresas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o resultado de negócio: 50,4% → 20%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piloto com empresas reais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6400800" y="4892040"/>
            <a:ext cx="5239512" cy="137160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01968" y="4965192"/>
            <a:ext cx="484632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B7A6E"/>
                </a:solidFill>
                <a:latin typeface="Calibri"/>
              </a:rPr>
              <a:t>E a evolução: </a:t>
            </a:r>
            <a:r>
              <a:rPr sz="1100" b="0" i="0">
                <a:solidFill>
                  <a:srgbClr val="1F2A30"/>
                </a:solidFill>
                <a:latin typeface="Calibri"/>
              </a:rPr>
              <a:t>um piloto com empresas reais; uma amostra rotulada por pessoas para calibrar os juízes; PDF e imagem (visão e OCR); o ambiente do banco (slide 09); Fine-Tuning só com volume alto.</a:t>
            </a:r>
          </a:p>
        </p:txBody>
      </p:sp>
      <p:sp>
        <p:nvSpPr>
          <p:cNvPr id="33" name="Rounded Rectangle 32">
            <a:hlinkClick r:id="rId8" action="ppaction://hlinksldjump"/>
          </p:cNvPr>
          <p:cNvSpPr/>
          <p:nvPr/>
        </p:nvSpPr>
        <p:spPr>
          <a:xfrm>
            <a:off x="548640" y="574243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Plano de implementação</a:t>
            </a:r>
          </a:p>
        </p:txBody>
      </p:sp>
      <p:pic>
        <p:nvPicPr>
          <p:cNvPr id="34" name="Picture 33" descr="ver_mais.png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" y="5812657"/>
            <a:ext cx="152156" cy="152156"/>
          </a:xfrm>
          <a:prstGeom prst="rect">
            <a:avLst/>
          </a:prstGeom>
        </p:spPr>
      </p:pic>
      <p:sp>
        <p:nvSpPr>
          <p:cNvPr id="35" name="Rounded Rectangle 34">
            <a:hlinkClick r:id="rId10" action="ppaction://hlinksldjump"/>
          </p:cNvPr>
          <p:cNvSpPr/>
          <p:nvPr/>
        </p:nvSpPr>
        <p:spPr>
          <a:xfrm>
            <a:off x="2816352" y="5742432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Custo em escala</a:t>
            </a:r>
          </a:p>
        </p:txBody>
      </p:sp>
      <p:pic>
        <p:nvPicPr>
          <p:cNvPr id="36" name="Picture 35" descr="ver_mais.png">
            <a:hlinkClick r:id="rId10" action="ppaction://hlinksldjump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62656" y="5812657"/>
            <a:ext cx="152156" cy="1521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7FC4B8"/>
                </a:solidFill>
                <a:latin typeface="Calibri"/>
              </a:rPr>
              <a:t>INTEGRA FOLHA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A empresa manda a folha como tem.</a:t>
            </a:r>
          </a:p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O banco ganha o cliente folha.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017520"/>
            <a:ext cx="3593592" cy="1325880"/>
          </a:xfrm>
          <a:prstGeom prst="roundRect">
            <a:avLst>
              <a:gd name="adj" fmla="val 3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3127248"/>
            <a:ext cx="322783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≈ R$ 115 MM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3227832" cy="612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 oportunidade em 12 meses</a:t>
            </a:r>
          </a:p>
          <a:p>
            <a:pPr algn="l"/>
            <a:r>
              <a:rPr sz="1050" b="0" i="0">
                <a:solidFill>
                  <a:srgbClr val="CFE3DF"/>
                </a:solidFill>
                <a:latin typeface="Calibri"/>
              </a:rPr>
              <a:t>313.783 clientes folha recuperados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3017520"/>
            <a:ext cx="3593592" cy="1325880"/>
          </a:xfrm>
          <a:prstGeom prst="roundRect">
            <a:avLst>
              <a:gd name="adj" fmla="val 3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59" y="3127248"/>
            <a:ext cx="322783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50,4% → 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3657600"/>
            <a:ext cx="3227832" cy="612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meta de desistência das empresas</a:t>
            </a:r>
          </a:p>
          <a:p>
            <a:pPr algn="l"/>
            <a:r>
              <a:rPr sz="1050" b="0" i="0">
                <a:solidFill>
                  <a:srgbClr val="CFE3DF"/>
                </a:solidFill>
                <a:latin typeface="Calibri"/>
              </a:rPr>
              <a:t>os agentes fazem a ponte que hoje é da empresa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3017520"/>
            <a:ext cx="3593592" cy="1325880"/>
          </a:xfrm>
          <a:prstGeom prst="roundRect">
            <a:avLst>
              <a:gd name="adj" fmla="val 3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9" y="3127248"/>
            <a:ext cx="322783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9" y="3657600"/>
            <a:ext cx="3227832" cy="612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erro silencioso na prova por tipo</a:t>
            </a:r>
          </a:p>
          <a:p>
            <a:pPr algn="l"/>
            <a:r>
              <a:rPr sz="1050" b="0" i="0">
                <a:solidFill>
                  <a:srgbClr val="CFE3DF"/>
                </a:solidFill>
                <a:latin typeface="Calibri"/>
              </a:rPr>
              <a:t>com 100% dos 4 obrigatórios certos fora do padrão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0060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 i="0">
                <a:solidFill>
                  <a:srgbClr val="7FC4B8"/>
                </a:solidFill>
                <a:latin typeface="Cambria"/>
              </a:rPr>
              <a:t>Obrigada!</a:t>
            </a:r>
          </a:p>
        </p:txBody>
      </p:sp>
      <p:sp>
        <p:nvSpPr>
          <p:cNvPr id="14" name="TextBox 13">
            <a:hlinkClick r:id="rId3"/>
          </p:cNvPr>
          <p:cNvSpPr txBox="1"/>
          <p:nvPr/>
        </p:nvSpPr>
        <p:spPr>
          <a:xfrm>
            <a:off x="6583680" y="48920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integrafolha.com.br</a:t>
            </a:r>
          </a:p>
        </p:txBody>
      </p:sp>
      <p:sp>
        <p:nvSpPr>
          <p:cNvPr id="15" name="TextBox 14">
            <a:hlinkClick r:id="rId4"/>
          </p:cNvPr>
          <p:cNvSpPr txBox="1"/>
          <p:nvPr/>
        </p:nvSpPr>
        <p:spPr>
          <a:xfrm>
            <a:off x="6583680" y="528523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github.com/josioumara/integra-folha</a:t>
            </a:r>
          </a:p>
        </p:txBody>
      </p:sp>
      <p:sp>
        <p:nvSpPr>
          <p:cNvPr id="16" name="Rounded Rectangle 15">
            <a:hlinkClick r:id="rId5" action="ppaction://hlinksldjump"/>
          </p:cNvPr>
          <p:cNvSpPr/>
          <p:nvPr/>
        </p:nvSpPr>
        <p:spPr>
          <a:xfrm>
            <a:off x="9921240" y="5806440"/>
            <a:ext cx="1719072" cy="329184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Ir para os anexos</a:t>
            </a:r>
          </a:p>
        </p:txBody>
      </p:sp>
      <p:pic>
        <p:nvPicPr>
          <p:cNvPr id="17" name="Picture 16" descr="ver_mais.png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7544" y="5885444"/>
            <a:ext cx="171175" cy="1711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CFE3DF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CFE3D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300">
                <a:solidFill>
                  <a:srgbClr val="7FC4B8"/>
                </a:solidFill>
                <a:latin typeface="Calibri"/>
              </a:rPr>
              <a:t>ANEXOS  ·  MATERIAL DE CONSULTA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O detalhe de cada decisão e de cada teste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2763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CFE3DF"/>
                </a:solidFill>
                <a:latin typeface="Calibri"/>
              </a:rPr>
              <a:t>Clique num item para abrir o slide; em cada anexo, "Voltar" leva ao slide de onde você veio.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80">
                <a:solidFill>
                  <a:srgbClr val="7FC4B8"/>
                </a:solidFill>
                <a:latin typeface="Calibri"/>
              </a:rPr>
              <a:t>DECISÕES E ARQUITETURA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548640" y="2542032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16  ·  Principais decisões e trade-offs</a:t>
            </a:r>
          </a:p>
        </p:txBody>
      </p:sp>
      <p:sp>
        <p:nvSpPr>
          <p:cNvPr id="7" name="Rounded Rectangle 6">
            <a:hlinkClick r:id="rId4" action="ppaction://hlinksldjump"/>
          </p:cNvPr>
          <p:cNvSpPr/>
          <p:nvPr/>
        </p:nvSpPr>
        <p:spPr>
          <a:xfrm>
            <a:off x="548640" y="2880360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17  ·  IA na medida certa</a:t>
            </a:r>
          </a:p>
        </p:txBody>
      </p:sp>
      <p:sp>
        <p:nvSpPr>
          <p:cNvPr id="8" name="Rounded Rectangle 7">
            <a:hlinkClick r:id="rId5" action="ppaction://hlinksldjump"/>
          </p:cNvPr>
          <p:cNvSpPr/>
          <p:nvPr/>
        </p:nvSpPr>
        <p:spPr>
          <a:xfrm>
            <a:off x="548640" y="3218687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18  ·  Front end e back end</a:t>
            </a:r>
          </a:p>
        </p:txBody>
      </p:sp>
      <p:sp>
        <p:nvSpPr>
          <p:cNvPr id="9" name="Rounded Rectangle 8">
            <a:hlinkClick r:id="rId6" action="ppaction://hlinksldjump"/>
          </p:cNvPr>
          <p:cNvSpPr/>
          <p:nvPr/>
        </p:nvSpPr>
        <p:spPr>
          <a:xfrm>
            <a:off x="548640" y="3557015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19  ·  Banco de dados</a:t>
            </a:r>
          </a:p>
        </p:txBody>
      </p:sp>
      <p:sp>
        <p:nvSpPr>
          <p:cNvPr id="10" name="Rounded Rectangle 9">
            <a:hlinkClick r:id="rId7" action="ppaction://hlinksldjump"/>
          </p:cNvPr>
          <p:cNvSpPr/>
          <p:nvPr/>
        </p:nvSpPr>
        <p:spPr>
          <a:xfrm>
            <a:off x="548640" y="3895344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20  ·  AWS e Bedrock</a:t>
            </a:r>
          </a:p>
        </p:txBody>
      </p:sp>
      <p:sp>
        <p:nvSpPr>
          <p:cNvPr id="11" name="Rounded Rectangle 10">
            <a:hlinkClick r:id="rId8" action="ppaction://hlinksldjump"/>
          </p:cNvPr>
          <p:cNvSpPr/>
          <p:nvPr/>
        </p:nvSpPr>
        <p:spPr>
          <a:xfrm>
            <a:off x="548640" y="4233672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21  ·  Modelos de IA (11 medidos)</a:t>
            </a:r>
          </a:p>
        </p:txBody>
      </p:sp>
      <p:sp>
        <p:nvSpPr>
          <p:cNvPr id="12" name="Rounded Rectangle 11">
            <a:hlinkClick r:id="rId9" action="ppaction://hlinksldjump"/>
          </p:cNvPr>
          <p:cNvSpPr/>
          <p:nvPr/>
        </p:nvSpPr>
        <p:spPr>
          <a:xfrm>
            <a:off x="548640" y="4572000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22  ·  RAG × Fine-Tuning</a:t>
            </a:r>
          </a:p>
        </p:txBody>
      </p:sp>
      <p:sp>
        <p:nvSpPr>
          <p:cNvPr id="13" name="Rounded Rectangle 12">
            <a:hlinkClick r:id="rId10" action="ppaction://hlinksldjump"/>
          </p:cNvPr>
          <p:cNvSpPr/>
          <p:nvPr/>
        </p:nvSpPr>
        <p:spPr>
          <a:xfrm>
            <a:off x="548640" y="4910327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23  ·  Prompts e orquestração</a:t>
            </a:r>
          </a:p>
        </p:txBody>
      </p:sp>
      <p:sp>
        <p:nvSpPr>
          <p:cNvPr id="14" name="Rounded Rectangle 13">
            <a:hlinkClick r:id="rId11" action="ppaction://hlinksldjump"/>
          </p:cNvPr>
          <p:cNvSpPr/>
          <p:nvPr/>
        </p:nvSpPr>
        <p:spPr>
          <a:xfrm>
            <a:off x="548640" y="5248656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24  ·  Memória e guardrails</a:t>
            </a:r>
          </a:p>
        </p:txBody>
      </p:sp>
      <p:sp>
        <p:nvSpPr>
          <p:cNvPr id="15" name="Rounded Rectangle 14">
            <a:hlinkClick r:id="rId12" action="ppaction://hlinksldjump"/>
          </p:cNvPr>
          <p:cNvSpPr/>
          <p:nvPr/>
        </p:nvSpPr>
        <p:spPr>
          <a:xfrm>
            <a:off x="548640" y="5586983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25  ·  Dados sintéticos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219456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80">
                <a:solidFill>
                  <a:srgbClr val="7FC4B8"/>
                </a:solidFill>
                <a:latin typeface="Calibri"/>
              </a:rPr>
              <a:t>TESTES E AGENTES</a:t>
            </a:r>
          </a:p>
        </p:txBody>
      </p:sp>
      <p:sp>
        <p:nvSpPr>
          <p:cNvPr id="17" name="Rounded Rectangle 16">
            <a:hlinkClick r:id="rId13" action="ppaction://hlinksldjump"/>
          </p:cNvPr>
          <p:cNvSpPr/>
          <p:nvPr/>
        </p:nvSpPr>
        <p:spPr>
          <a:xfrm>
            <a:off x="4325112" y="2542032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26  ·  Como medimos (22 experimentos)</a:t>
            </a:r>
          </a:p>
        </p:txBody>
      </p:sp>
      <p:sp>
        <p:nvSpPr>
          <p:cNvPr id="18" name="Rounded Rectangle 17">
            <a:hlinkClick r:id="rId14" action="ppaction://hlinksldjump"/>
          </p:cNvPr>
          <p:cNvSpPr/>
          <p:nvPr/>
        </p:nvSpPr>
        <p:spPr>
          <a:xfrm>
            <a:off x="4325112" y="2880360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27  ·  Ganho da IA por tipo</a:t>
            </a:r>
          </a:p>
        </p:txBody>
      </p:sp>
      <p:sp>
        <p:nvSpPr>
          <p:cNvPr id="19" name="Rounded Rectangle 18">
            <a:hlinkClick r:id="rId15" action="ppaction://hlinksldjump"/>
          </p:cNvPr>
          <p:cNvSpPr/>
          <p:nvPr/>
        </p:nvSpPr>
        <p:spPr>
          <a:xfrm>
            <a:off x="4325112" y="3557015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29  ·  Ficha: Interpretador</a:t>
            </a:r>
          </a:p>
        </p:txBody>
      </p:sp>
      <p:sp>
        <p:nvSpPr>
          <p:cNvPr id="20" name="Rounded Rectangle 19">
            <a:hlinkClick r:id="rId16" action="ppaction://hlinksldjump"/>
          </p:cNvPr>
          <p:cNvSpPr/>
          <p:nvPr/>
        </p:nvSpPr>
        <p:spPr>
          <a:xfrm>
            <a:off x="4325112" y="3895343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30  ·  Ficha: Leitor</a:t>
            </a:r>
          </a:p>
        </p:txBody>
      </p:sp>
      <p:sp>
        <p:nvSpPr>
          <p:cNvPr id="21" name="Rounded Rectangle 20">
            <a:hlinkClick r:id="rId17" action="ppaction://hlinksldjump"/>
          </p:cNvPr>
          <p:cNvSpPr/>
          <p:nvPr/>
        </p:nvSpPr>
        <p:spPr>
          <a:xfrm>
            <a:off x="4325112" y="4233672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31  ·  Ficha: Conferidor</a:t>
            </a:r>
          </a:p>
        </p:txBody>
      </p:sp>
      <p:sp>
        <p:nvSpPr>
          <p:cNvPr id="22" name="Rounded Rectangle 21">
            <a:hlinkClick r:id="rId18" action="ppaction://hlinksldjump"/>
          </p:cNvPr>
          <p:cNvSpPr/>
          <p:nvPr/>
        </p:nvSpPr>
        <p:spPr>
          <a:xfrm>
            <a:off x="4325112" y="4572000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32  ·  Ficha: Agente de validação</a:t>
            </a:r>
          </a:p>
        </p:txBody>
      </p:sp>
      <p:sp>
        <p:nvSpPr>
          <p:cNvPr id="23" name="Rounded Rectangle 22">
            <a:hlinkClick r:id="rId19" action="ppaction://hlinksldjump"/>
          </p:cNvPr>
          <p:cNvSpPr/>
          <p:nvPr/>
        </p:nvSpPr>
        <p:spPr>
          <a:xfrm>
            <a:off x="4325112" y="4910328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33  ·  Ficha: Endomarketing</a:t>
            </a:r>
          </a:p>
        </p:txBody>
      </p:sp>
      <p:sp>
        <p:nvSpPr>
          <p:cNvPr id="24" name="Rounded Rectangle 23">
            <a:hlinkClick r:id="rId20" action="ppaction://hlinksldjump"/>
          </p:cNvPr>
          <p:cNvSpPr/>
          <p:nvPr/>
        </p:nvSpPr>
        <p:spPr>
          <a:xfrm>
            <a:off x="4325112" y="5248655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34  ·  Endomarketing: testes e RAGAS</a:t>
            </a:r>
          </a:p>
        </p:txBody>
      </p:sp>
      <p:sp>
        <p:nvSpPr>
          <p:cNvPr id="25" name="Rounded Rectangle 24">
            <a:hlinkClick r:id="rId21" action="ppaction://hlinksldjump"/>
          </p:cNvPr>
          <p:cNvSpPr/>
          <p:nvPr/>
        </p:nvSpPr>
        <p:spPr>
          <a:xfrm>
            <a:off x="4325112" y="5586984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35  ·  Segurança: 151 testes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1583" y="219456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spc="180">
                <a:solidFill>
                  <a:srgbClr val="7FC4B8"/>
                </a:solidFill>
                <a:latin typeface="Calibri"/>
              </a:rPr>
              <a:t>RESPONSABILIDADE, CUSTO E PLANO</a:t>
            </a:r>
          </a:p>
        </p:txBody>
      </p:sp>
      <p:sp>
        <p:nvSpPr>
          <p:cNvPr id="27" name="Rounded Rectangle 26">
            <a:hlinkClick r:id="rId22" action="ppaction://hlinksldjump"/>
          </p:cNvPr>
          <p:cNvSpPr/>
          <p:nvPr/>
        </p:nvSpPr>
        <p:spPr>
          <a:xfrm>
            <a:off x="8101583" y="2542032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36  ·  Privacidade</a:t>
            </a:r>
          </a:p>
        </p:txBody>
      </p:sp>
      <p:sp>
        <p:nvSpPr>
          <p:cNvPr id="28" name="Rounded Rectangle 27">
            <a:hlinkClick r:id="rId23" action="ppaction://hlinksldjump"/>
          </p:cNvPr>
          <p:cNvSpPr/>
          <p:nvPr/>
        </p:nvSpPr>
        <p:spPr>
          <a:xfrm>
            <a:off x="8101583" y="2880360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37  ·  Uso responsável</a:t>
            </a:r>
          </a:p>
        </p:txBody>
      </p:sp>
      <p:sp>
        <p:nvSpPr>
          <p:cNvPr id="29" name="Rounded Rectangle 28">
            <a:hlinkClick r:id="rId24" action="ppaction://hlinksldjump"/>
          </p:cNvPr>
          <p:cNvSpPr/>
          <p:nvPr/>
        </p:nvSpPr>
        <p:spPr>
          <a:xfrm>
            <a:off x="8101583" y="3218687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38  ·  Custo em escala</a:t>
            </a:r>
          </a:p>
        </p:txBody>
      </p:sp>
      <p:sp>
        <p:nvSpPr>
          <p:cNvPr id="30" name="Rounded Rectangle 29">
            <a:hlinkClick r:id="rId25" action="ppaction://hlinksldjump"/>
          </p:cNvPr>
          <p:cNvSpPr/>
          <p:nvPr/>
        </p:nvSpPr>
        <p:spPr>
          <a:xfrm>
            <a:off x="8101583" y="3557015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39  ·  Retorno</a:t>
            </a:r>
          </a:p>
        </p:txBody>
      </p:sp>
      <p:sp>
        <p:nvSpPr>
          <p:cNvPr id="31" name="Rounded Rectangle 30">
            <a:hlinkClick r:id="rId26" action="ppaction://hlinksldjump"/>
          </p:cNvPr>
          <p:cNvSpPr/>
          <p:nvPr/>
        </p:nvSpPr>
        <p:spPr>
          <a:xfrm>
            <a:off x="8101583" y="3895344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40  ·  Plano de implementação</a:t>
            </a:r>
          </a:p>
        </p:txBody>
      </p:sp>
      <p:sp>
        <p:nvSpPr>
          <p:cNvPr id="32" name="Rounded Rectangle 31">
            <a:hlinkClick r:id="rId27" action="ppaction://hlinksldjump"/>
          </p:cNvPr>
          <p:cNvSpPr/>
          <p:nvPr/>
        </p:nvSpPr>
        <p:spPr>
          <a:xfrm>
            <a:off x="8101583" y="4233672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41  ·  Escopo</a:t>
            </a:r>
          </a:p>
        </p:txBody>
      </p:sp>
      <p:sp>
        <p:nvSpPr>
          <p:cNvPr id="33" name="Rounded Rectangle 32">
            <a:hlinkClick r:id="rId28" action="ppaction://hlinksldjump"/>
          </p:cNvPr>
          <p:cNvSpPr/>
          <p:nvPr/>
        </p:nvSpPr>
        <p:spPr>
          <a:xfrm>
            <a:off x="8101583" y="4572000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42  ·  Aderência ao enunciado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CFE3DF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CFE3DF"/>
                </a:solidFill>
                <a:latin typeface="Calibri"/>
              </a:rPr>
              <a:t>15</a:t>
            </a:r>
          </a:p>
        </p:txBody>
      </p:sp>
      <p:sp>
        <p:nvSpPr>
          <p:cNvPr id="36" name="Rounded Rectangle 35">
            <a:hlinkClick action="ppaction://hlinksldjump" r:id="rId29"/>
          </p:cNvPr>
          <p:cNvSpPr/>
          <p:nvPr/>
        </p:nvSpPr>
        <p:spPr>
          <a:xfrm>
            <a:off x="4325112" y="3218687"/>
            <a:ext cx="3593592" cy="283464"/>
          </a:xfrm>
          <a:prstGeom prst="roundRect">
            <a:avLst>
              <a:gd name="adj" fmla="val 50000"/>
            </a:avLst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28  ·  Arquivos grandes (EXP-022)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 ·  DECISÕES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decisões e trade-offs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420624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 descartada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Normalização por regras, sem LLM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transformando os dados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Reprodutível, sem risco em valores financeiros e sem custo de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Humano aprova mapeamento e homologação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 bancário exige responsabilidade e auditoria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de planejamento, sem ofertas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calculando e gerando ofertas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Números auditáveis e agregados; o Consultor saiu (ADR-144)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pelo Bedrock, perfil EUA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direta dos fornecedores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fornecedor não vê o pedido; uma fatura só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RAG, sem Fine-Tuning nesta versão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Ajustar o modelo (Fine-Tuning)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novo vale na hora, com fonte; ajuste só com volume alto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 próprio com API FastAPI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Ficar só no Streamlit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Telas do jeito do negócio; a lógica já estava nos serviços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num parâmetro do banco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fixo no código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banco muda campos sem programar; a IA lê o parâmetro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61646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Multiagente só onde há ganho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Tudo multiagente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Fluxo controlado; supervisor custa ~67% mais chamadas (medido)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834878"/>
                  </a:ext>
                </a:extLst>
              </a:tr>
            </a:tbl>
          </a:graphicData>
        </a:graphic>
      </p:graphicFrame>
      <p:sp>
        <p:nvSpPr>
          <p:cNvPr id="14" name="Legenda ADRs"/>
          <p:cNvSpPr txBox="1"/>
          <p:nvPr/>
        </p:nvSpPr>
        <p:spPr>
          <a:xfrm>
            <a:off x="548640" y="5897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decisões registradas com opções, porquê, trade-off e teste em docs/decisoes.md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16</a:t>
            </a:r>
          </a:p>
        </p:txBody>
      </p:sp>
      <p:sp>
        <p:nvSpPr>
          <p:cNvPr id="17" name="Rounded Rectangle 16">
            <a:hlinkClick r:id="rId3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18" name="Picture 17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19" name="Rounded Rectangle 18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20" name="Picture 19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 ·  IA NA MEDIDA CERTA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realmente precisa de IA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4279392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6656832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Abordagem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faz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Integra Folha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dos dados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provável, vazios e amostras de cada coluna, antes de tudo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Regras determinísticas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 e fichas do Word, dicionário, padronização, validação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 por empresa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busca só traz documentos da empresa logada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 da coluna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formato (999.999.999-99) ajuda a decidir o campo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Reuso do que foi aprovado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Inclusão com as mesmas colunas: zero chamadas de 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 padronizado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CSV, Excel e Word viram a mesma estrutura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+ busca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Layout, regras, mapeamentos aprovados e catálogo de cada empresa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Colunas nunca vistas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Dicionário 53% → IA 83% por campo (EXP-014)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corrido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 não lê frases: 0% → 99,5% no documento real (EXP-010)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 das pendências, Endomarketing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Linguagem: só IA faz, sempre com fonte e conferência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local · visão e OCR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aberto no banco; PDF e imagem na mesma linha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E6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com volume alto ou modelo aberto no banco (anexo RAG × Fine-Tuning)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2"/>
                  </a:ext>
                </a:extLst>
              </a:tr>
            </a:tbl>
          </a:graphicData>
        </a:graphic>
      </p:graphicFrame>
      <p:sp>
        <p:nvSpPr>
          <p:cNvPr id="14" name="Legenda ADRs"/>
          <p:cNvSpPr txBox="1"/>
          <p:nvPr/>
        </p:nvSpPr>
        <p:spPr>
          <a:xfrm>
            <a:off x="548640" y="5897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de cada etapa é "uma regra resolve?". A IA entra só onde a regra falha, e o ganho é medido: ela não perde valor, fica onde vale. Base: ADR-01, 76 e 81; docs/arquitetura.md.</a:t>
            </a:r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17</a:t>
            </a:r>
          </a:p>
        </p:txBody>
      </p:sp>
      <p:sp>
        <p:nvSpPr>
          <p:cNvPr id="17" name="Rounded Rectangle 16">
            <a:hlinkClick r:id="rId3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18" name="Picture 17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19" name="Rounded Rectangle 18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20" name="Picture 19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ANEXO  ·  FRONT END E BACK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Telas próprias, API FastAPI e um fluxo que retoma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1B7A6E"/>
                </a:solidFill>
                <a:latin typeface="Calibri"/>
              </a:rPr>
              <a:t>OPÇÕES AVALIADAS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10512"/>
          <a:ext cx="635508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Opção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 que a avaliação mostrou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Streamlit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Rápido no início, mas reexecuta a página a cada clique: saiu (ADR-108)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React ou outra SPA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Exige build e dobra o esforço; o foco é a IA (ADR-33)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Gradio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Bom para mostrar um modelo, fraco para várias telas e perfis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HTML/JS + API FastAPI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Reaproveita os serviços e os testes: escolhida (ADR-69)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325112"/>
            <a:ext cx="6355080" cy="612647"/>
          </a:xfrm>
          <a:prstGeom prst="roundRect">
            <a:avLst>
              <a:gd name="adj" fmla="val 2424"/>
            </a:avLst>
          </a:prstGeom>
          <a:solidFill>
            <a:srgbClr val="FF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4453128"/>
            <a:ext cx="5843016" cy="3566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98212"/>
                </a:solidFill>
                <a:latin typeface="Calibri"/>
              </a:rPr>
              <a:t>Evidência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F2A30"/>
                </a:solidFill>
                <a:latin typeface="Calibri"/>
              </a:rPr>
              <a:t>0 etapas refeitas em 26 retomadas (EXP-004). Senha provisória com troca obrigatória, que vence em 48 h (ADR-109, ADR-154). Cinco senhas erradas bloqueiam o login por 15 minutos (ADR-110).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507992" cy="1554480"/>
          </a:xfrm>
          <a:prstGeom prst="roundRect">
            <a:avLst>
              <a:gd name="adj" fmla="val 2424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60920" y="15910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7FC4B8"/>
                </a:solidFill>
                <a:latin typeface="Calibri"/>
              </a:rPr>
              <a:t>DECISÃO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865376"/>
            <a:ext cx="40690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Telas em HTML, CSS e JavaScript puros, servidas por uma API FastAPI. O fluxo roda em LangGraph, com o ponto de salvamento no PostgreSQL.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172968"/>
            <a:ext cx="4507992" cy="1764792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20" y="328269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7A6E"/>
                </a:solidFill>
                <a:latin typeface="Calibri"/>
              </a:rPr>
              <a:t>POR QUÊ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593592"/>
            <a:ext cx="4114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F2A30"/>
                </a:solidFill>
                <a:latin typeface="Calibri"/>
              </a:rPr>
              <a:t>O layout aprovado virou tela sem reescrever a lógica testada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F2A30"/>
                </a:solidFill>
                <a:latin typeface="Calibri"/>
              </a:rPr>
              <a:t>Cada página e cada rota conferem o perfil de quem entra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F2A30"/>
                </a:solidFill>
                <a:latin typeface="Calibri"/>
              </a:rPr>
              <a:t>O fluxo pausa para a pessoa decidir e retoma dias depois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02352"/>
            <a:ext cx="2649474" cy="1133856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228371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B7A6E"/>
                </a:solidFill>
                <a:latin typeface="Cambria"/>
              </a:rPr>
              <a:t>2.281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42432"/>
            <a:ext cx="2283714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testes automatizados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rodam a cada mudança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62706" y="5102352"/>
            <a:ext cx="2649474" cy="1133856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45586" y="5212080"/>
            <a:ext cx="228371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B7A6E"/>
                </a:solidFill>
                <a:latin typeface="Cambria"/>
              </a:rPr>
              <a:t>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5586" y="5742432"/>
            <a:ext cx="2283714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roteiros de clique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no navegador, ponta a ponta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6772" y="5102352"/>
            <a:ext cx="2649474" cy="1133856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9652" y="5212080"/>
            <a:ext cx="228371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B7A6E"/>
                </a:solidFill>
                <a:latin typeface="Cambria"/>
              </a:rPr>
              <a:t>105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9652" y="5742432"/>
            <a:ext cx="2283714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rotas na API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todas conferem o perfil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0838" y="5102352"/>
            <a:ext cx="2649474" cy="1133856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73717" y="5212080"/>
            <a:ext cx="228371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B7A6E"/>
                </a:solidFill>
                <a:latin typeface="Cambria"/>
              </a:rPr>
              <a:t>0 de 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3717" y="5742432"/>
            <a:ext cx="2283714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etapas refeitas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ao retomar um envio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18</a:t>
            </a:r>
          </a:p>
        </p:txBody>
      </p:sp>
      <p:sp>
        <p:nvSpPr>
          <p:cNvPr id="30" name="Rounded Rectangle 29">
            <a:hlinkClick r:id="rId3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31" name="Picture 30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32" name="Rounded Rectangle 31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33" name="Picture 32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 ·  BANCO DE DADOS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de dados: PostgreSQL, escolhido pelo uso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CAPACIDADES PARA ESTA APLICAÇÃO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19"/>
          <a:ext cx="7315200" cy="263042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MariaDB / MySQL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Gravações ao mesmo tempo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por vez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Acessos e permissões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tem o arquivo vê tudo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Usuários, permissões e regra por linha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Usuários e permissões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Estabilidade e recuperação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Cópia do arquivo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Réplica e volta a qualquer ponto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Réplica e cluster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Recursos de 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pgvector e checkpoint oficial do LangGraph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 só comunitário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ou serviço gerenciado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Servidor ou serviço gerenciado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617720"/>
            <a:ext cx="7315200" cy="1463040"/>
          </a:xfrm>
          <a:prstGeom prst="roundRect">
            <a:avLst>
              <a:gd name="adj" fmla="val 5000"/>
            </a:avLst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822960" y="4681728"/>
            <a:ext cx="67665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98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aplicação crescer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Piloto: PostgreSQL gerenciado, com backup automático e criptografia · Escala: réplica só de leitura para os indicadores e tabelas divididas por data · RAG: vetores no próprio banco (pgvector) · Séries históricas: um banco analítico ao lado. O SQLite continua pela mesma porta, para testes e para quem clona o projeto.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VOLUME ESPERADO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75320" y="1874520"/>
            <a:ext cx="3364992" cy="932688"/>
          </a:xfrm>
          <a:prstGeom prst="roundRect">
            <a:avLst>
              <a:gd name="adj" fmla="val 7843"/>
            </a:avLst>
          </a:prstGeom>
          <a:solidFill>
            <a:srgbClr val="F3F5F5"/>
          </a:solidFill>
          <a:ln w="12700">
            <a:solidFill>
              <a:srgbClr val="F3F5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 txBox="1"/>
          <p:nvPr/>
        </p:nvSpPr>
        <p:spPr>
          <a:xfrm>
            <a:off x="8412480" y="1874520"/>
            <a:ext cx="1280160" cy="932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9AA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1,04 mi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710928" y="1874520"/>
            <a:ext cx="18470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funcionários cadastrados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520 mil falso não folha são metade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75320" y="2944368"/>
            <a:ext cx="3364992" cy="932688"/>
          </a:xfrm>
          <a:prstGeom prst="roundRect">
            <a:avLst>
              <a:gd name="adj" fmla="val 7843"/>
            </a:avLst>
          </a:prstGeom>
          <a:solidFill>
            <a:srgbClr val="F3F5F5"/>
          </a:solidFill>
          <a:ln w="12700">
            <a:solidFill>
              <a:srgbClr val="F3F5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14"/>
          <p:cNvSpPr txBox="1"/>
          <p:nvPr/>
        </p:nvSpPr>
        <p:spPr>
          <a:xfrm>
            <a:off x="8412480" y="2944368"/>
            <a:ext cx="1280160" cy="932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9AA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KB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9710928" y="2944368"/>
            <a:ext cx="18470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funcionário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nos dados padronizados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75320" y="4014216"/>
            <a:ext cx="3364992" cy="932688"/>
          </a:xfrm>
          <a:prstGeom prst="roundRect">
            <a:avLst>
              <a:gd name="adj" fmla="val 7843"/>
            </a:avLst>
          </a:prstGeom>
          <a:solidFill>
            <a:srgbClr val="F3F5F5"/>
          </a:solidFill>
          <a:ln w="12700">
            <a:solidFill>
              <a:srgbClr val="F3F5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 txBox="1"/>
          <p:nvPr/>
        </p:nvSpPr>
        <p:spPr>
          <a:xfrm>
            <a:off x="8412480" y="4014216"/>
            <a:ext cx="1280160" cy="932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9AA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 GB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9710928" y="4014216"/>
            <a:ext cx="18470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total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 em qualquer banco: o uso decide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275320" y="5084064"/>
            <a:ext cx="3364992" cy="932688"/>
          </a:xfrm>
          <a:prstGeom prst="roundRect">
            <a:avLst>
              <a:gd name="adj" fmla="val 7843"/>
            </a:avLst>
          </a:prstGeom>
          <a:solidFill>
            <a:srgbClr val="F3F5F5"/>
          </a:solidFill>
          <a:ln w="12700">
            <a:solidFill>
              <a:srgbClr val="F3F5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 txBox="1"/>
          <p:nvPr/>
        </p:nvSpPr>
        <p:spPr>
          <a:xfrm>
            <a:off x="8412480" y="5084064"/>
            <a:ext cx="1280160" cy="932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9AA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bancos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9710928" y="5084064"/>
            <a:ext cx="18470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bateria de testes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 no SQLite e no PostgreSQL</a:t>
            </a:r>
            <a:endParaRPr 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19</a:t>
            </a:r>
          </a:p>
        </p:txBody>
      </p:sp>
      <p:sp>
        <p:nvSpPr>
          <p:cNvPr id="27" name="Rounded Rectangle 26">
            <a:hlinkClick r:id="rId3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28" name="Picture 27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29" name="Rounded Rectangle 28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30" name="Picture 29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ANEXO  ·  AWS E BEDROCK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IA pelo Bedrock: o fornecedor do modelo não vê o pedido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309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1B7A6E"/>
                </a:solidFill>
                <a:latin typeface="Calibri"/>
              </a:rPr>
              <a:t>OPÇÕES AVALIADAS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10512"/>
          <a:ext cx="635508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Opção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 que a avaliação mostrou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API direta (Anthropic e OpenAI)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O fornecedor recebe o pedido, pelas regras dele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Bedrock, perfil global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≈ 10% mais barato, mas o pedido pode ir a qualquer região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IA local na máquina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O dado não sai, mas 11 min por planilha e 0 de 18 (EXP-011)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Bedrock, perfil EUA (us.)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Destino fixo e registrado, uma fatura só: escolhida (ADR-96)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325112"/>
            <a:ext cx="6355080" cy="612647"/>
          </a:xfrm>
          <a:prstGeom prst="roundRect">
            <a:avLst>
              <a:gd name="adj" fmla="val 2424"/>
            </a:avLst>
          </a:prstGeom>
          <a:solidFill>
            <a:srgbClr val="FF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4453128"/>
            <a:ext cx="5843016" cy="3566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98212"/>
                </a:solidFill>
                <a:latin typeface="Calibri"/>
              </a:rPr>
              <a:t>Evidência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F2A30"/>
                </a:solidFill>
                <a:latin typeface="Calibri"/>
              </a:rPr>
              <a:t>Os testes da porta única cobrem o perfil EUA, a recusa dos modelos que guardam pedidos e o acréscimo de 10% no preço. O contêiner roda sem administrador (ADR-110).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481328"/>
            <a:ext cx="4507992" cy="1554480"/>
          </a:xfrm>
          <a:prstGeom prst="roundRect">
            <a:avLst>
              <a:gd name="adj" fmla="val 2424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60920" y="159105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7FC4B8"/>
                </a:solidFill>
                <a:latin typeface="Calibri"/>
              </a:rPr>
              <a:t>DECISÃO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865376"/>
            <a:ext cx="40690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Toda chamada de IA sai por uma porta única, pelo Amazon Bedrock com o perfil EUA fixo no código. A aplicação roda na AWS, num contêiner Docker.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172968"/>
            <a:ext cx="4507992" cy="1764792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60920" y="328269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7A6E"/>
                </a:solidFill>
                <a:latin typeface="Calibri"/>
              </a:rPr>
              <a:t>POR QUÊ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593592"/>
            <a:ext cx="4114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F2A30"/>
                </a:solidFill>
                <a:latin typeface="Calibri"/>
              </a:rPr>
              <a:t>No Bedrock, o fornecedor do modelo não acessa os pedidos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F2A30"/>
                </a:solidFill>
                <a:latin typeface="Calibri"/>
              </a:rPr>
              <a:t>Modelos que guardam pedidos por até 30 dias ficam de fora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1F2A30"/>
                </a:solidFill>
                <a:latin typeface="Calibri"/>
              </a:rPr>
              <a:t>Retenção zero em duas travas: no código e na conta AWS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02352"/>
            <a:ext cx="2649474" cy="1133856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228371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B7A6E"/>
                </a:solidFill>
                <a:latin typeface="Cambria"/>
              </a:rPr>
              <a:t>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742432"/>
            <a:ext cx="2283714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perfil geográfico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EUA, fixo no código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62706" y="5102352"/>
            <a:ext cx="2649474" cy="1133856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45586" y="5212080"/>
            <a:ext cx="228371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B7A6E"/>
                </a:solidFill>
                <a:latin typeface="Cambria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5586" y="5742432"/>
            <a:ext cx="2283714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modelos que guardam pedidos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recusados antes de sair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6772" y="5102352"/>
            <a:ext cx="2649474" cy="1133856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9652" y="5212080"/>
            <a:ext cx="228371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B7A6E"/>
                </a:solidFill>
                <a:latin typeface="Cambria"/>
              </a:rPr>
              <a:t>+10%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9652" y="5742432"/>
            <a:ext cx="2283714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no preço da IA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o custo da geografia fixa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90838" y="5102352"/>
            <a:ext cx="2649474" cy="1133856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73717" y="5212080"/>
            <a:ext cx="228371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B7A6E"/>
                </a:solidFill>
                <a:latin typeface="Cambria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3717" y="5742432"/>
            <a:ext cx="2283714" cy="4206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porta de saída da IA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auditável num lugar só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20</a:t>
            </a:r>
          </a:p>
        </p:txBody>
      </p:sp>
      <p:sp>
        <p:nvSpPr>
          <p:cNvPr id="30" name="Rounded Rectangle 29">
            <a:hlinkClick r:id="rId3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31" name="Picture 30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32" name="Rounded Rectangle 31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33" name="Picture 32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ANEXO  ·  MODELOS DE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Medimos 11 modelos: o plano B empata com o escolhido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1B7A6E"/>
                </a:solidFill>
                <a:latin typeface="Calibri"/>
              </a:rPr>
              <a:t>INTERPRETADOR (B3), AS MESMAS 30 PLANILHAS DA PROVA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10512"/>
          <a:ext cx="7315200" cy="2962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Acerto por campo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IC 95%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US$ / planilha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Tempo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Claude Sonnet 5 (API direta)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84,4%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81–88%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0,056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34 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Claude Haiku 4.5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84,4%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81–88%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0,017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10 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Qwen3 VL 235B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84,0%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80–87%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0,008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38 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Claude Sonnet 4.6 · em uso, grande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82,9%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80–86%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0,050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16 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Mistral Large 3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81,8%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78–86%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0,006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10 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Amazon Nova 2 Lite · em uso, pequeno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81,6%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79–85%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0,008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9 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GPT-6 Luna (API direta)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76,3%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73–80%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0,002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30 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Dicionário sem IA (B0)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53,4%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50–57%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&lt; 0,01 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983480"/>
            <a:ext cx="7315200" cy="1252728"/>
          </a:xfrm>
          <a:prstGeom prst="roundRect">
            <a:avLst>
              <a:gd name="adj" fmla="val 2424"/>
            </a:avLst>
          </a:prstGeom>
          <a:solidFill>
            <a:srgbClr val="FF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5111496"/>
            <a:ext cx="6803136" cy="9966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C98212"/>
                </a:solidFill>
                <a:latin typeface="Calibri"/>
              </a:rPr>
              <a:t>Leitura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F2A30"/>
                </a:solidFill>
                <a:latin typeface="Calibri"/>
              </a:rPr>
              <a:t>Só código não bastava: o dicionário acerta 53% e a IA local, 0 de 18. Com IA, todos passam de 76%. Sonnet 5 e Luna foram os escolhidos (ADR-11), mas a conta AWS ainda não os libera; o plano B empata dentro da margem, com o formato garantido (ADR-107).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10512"/>
            <a:ext cx="3502152" cy="987552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1810512"/>
            <a:ext cx="141732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7A6E"/>
                </a:solidFill>
                <a:latin typeface="Cambria"/>
              </a:rPr>
              <a:t>53% → 83%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1512" y="1883664"/>
            <a:ext cx="171907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com IA no Interpretador</a:t>
            </a:r>
          </a:p>
          <a:p>
            <a:pPr algn="l"/>
            <a:r>
              <a:rPr sz="1100" b="0" i="0">
                <a:solidFill>
                  <a:srgbClr val="5E6B70"/>
                </a:solidFill>
                <a:latin typeface="Calibri"/>
              </a:rPr>
              <a:t>dicionário × Sonnet 4.6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935224"/>
            <a:ext cx="3502152" cy="987552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2935224"/>
            <a:ext cx="141732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7A6E"/>
                </a:solidFill>
                <a:latin typeface="Cambria"/>
              </a:rPr>
              <a:t>31% → 79%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1512" y="3008376"/>
            <a:ext cx="171907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Nova 2 Lite com formato garantido</a:t>
            </a:r>
          </a:p>
          <a:p>
            <a:pPr algn="l"/>
            <a:r>
              <a:rPr sz="1100" b="0" i="0">
                <a:solidFill>
                  <a:srgbClr val="5E6B70"/>
                </a:solidFill>
                <a:latin typeface="Calibri"/>
              </a:rPr>
              <a:t>0 respostas fora do contrato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4059935"/>
            <a:ext cx="3502152" cy="987552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4059935"/>
            <a:ext cx="141732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7A6E"/>
                </a:solidFill>
                <a:latin typeface="Cambria"/>
              </a:rPr>
              <a:t>US$ 0,008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1512" y="4133087"/>
            <a:ext cx="171907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por planilha no Nova 2 Lite</a:t>
            </a:r>
          </a:p>
          <a:p>
            <a:pPr algn="l"/>
            <a:r>
              <a:rPr sz="1100" b="0" i="0">
                <a:solidFill>
                  <a:srgbClr val="5E6B70"/>
                </a:solidFill>
                <a:latin typeface="Calibri"/>
              </a:rPr>
              <a:t>−85% contra o Sonnet 4.6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5184648"/>
            <a:ext cx="3502152" cy="987552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2752" y="5184648"/>
            <a:ext cx="1417320" cy="987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1B7A6E"/>
                </a:solidFill>
                <a:latin typeface="Cambria"/>
              </a:rPr>
              <a:t>27 →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1512" y="5257800"/>
            <a:ext cx="1719072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modelos: triagem e medição</a:t>
            </a:r>
          </a:p>
          <a:p>
            <a:pPr algn="l"/>
            <a:r>
              <a:rPr sz="1100" b="0" i="0">
                <a:solidFill>
                  <a:srgbClr val="5E6B70"/>
                </a:solidFill>
                <a:latin typeface="Calibri"/>
              </a:rPr>
              <a:t>caros e antigos saem antes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21</a:t>
            </a:r>
          </a:p>
        </p:txBody>
      </p:sp>
      <p:sp>
        <p:nvSpPr>
          <p:cNvPr id="24" name="Rounded Rectangle 23">
            <a:hlinkClick r:id="rId3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25" name="Picture 24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26" name="Rounded Rectangle 25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27" name="Picture 26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 ·  RAG × FINE-TUNING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× Fine-Tuning: por que RAG nesta versão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CONHECIMENTO MUDA; O MODELO NÃO PRECISA MUDAR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19"/>
          <a:ext cx="7315200" cy="256032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3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3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(o que usamos)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novo no layout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 na hora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Treinar de novo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de cada empresa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filtro na busca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modelo por empresa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 a resposta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 a fonte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diz de onde veio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 pessoal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entra no índice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Fica no modelo treinado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local, sem 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Treino + hospedar o modelo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ganha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Conhecimento que muda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i="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 fixo em volume alto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6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617720"/>
            <a:ext cx="7315200" cy="1463040"/>
          </a:xfrm>
          <a:prstGeom prst="roundRect">
            <a:avLst>
              <a:gd name="adj" fmla="val 5000"/>
            </a:avLst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822960" y="4681728"/>
            <a:ext cx="676656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98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Fine-Tuning passa a fazer sentido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volume muito alto (≈ 1,04 milhão de funcionários, custo por chamada pesando), com um modelo aberto dentro do banco, ou num formato de saída que o modelo erra sempre. E junto com o RAG, nunca no lugar dele.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1508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AJUSTE, EM NÚMEROS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75320" y="1874520"/>
            <a:ext cx="3364992" cy="932688"/>
          </a:xfrm>
          <a:prstGeom prst="roundRect">
            <a:avLst>
              <a:gd name="adj" fmla="val 7843"/>
            </a:avLst>
          </a:prstGeom>
          <a:solidFill>
            <a:srgbClr val="F3F5F5"/>
          </a:solidFill>
          <a:ln w="12700">
            <a:solidFill>
              <a:srgbClr val="F3F5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8412480" y="1874520"/>
            <a:ext cx="1280160" cy="932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9AA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710928" y="1874520"/>
            <a:ext cx="18470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campo, sem ajuste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4.6; o dicionário acerta 53%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75320" y="2944368"/>
            <a:ext cx="3364992" cy="932688"/>
          </a:xfrm>
          <a:prstGeom prst="roundRect">
            <a:avLst>
              <a:gd name="adj" fmla="val 7843"/>
            </a:avLst>
          </a:prstGeom>
          <a:solidFill>
            <a:srgbClr val="F3F5F5"/>
          </a:solidFill>
          <a:ln w="12700">
            <a:solidFill>
              <a:srgbClr val="F3F5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14"/>
          <p:cNvSpPr txBox="1"/>
          <p:nvPr/>
        </p:nvSpPr>
        <p:spPr>
          <a:xfrm>
            <a:off x="8412480" y="2944368"/>
            <a:ext cx="1280160" cy="932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9AA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9710928" y="2944368"/>
            <a:ext cx="18470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um campo novo valer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275320" y="4014216"/>
            <a:ext cx="3364992" cy="932688"/>
          </a:xfrm>
          <a:prstGeom prst="roundRect">
            <a:avLst>
              <a:gd name="adj" fmla="val 7843"/>
            </a:avLst>
          </a:prstGeom>
          <a:solidFill>
            <a:srgbClr val="F3F5F5"/>
          </a:solidFill>
          <a:ln w="12700">
            <a:solidFill>
              <a:srgbClr val="F3F5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 txBox="1"/>
          <p:nvPr/>
        </p:nvSpPr>
        <p:spPr>
          <a:xfrm>
            <a:off x="8412480" y="4014216"/>
            <a:ext cx="1280160" cy="932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9AA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1.500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9710928" y="4014216"/>
            <a:ext cx="18470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 de treino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prontas para o dia do ajuste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275320" y="5084064"/>
            <a:ext cx="3364992" cy="932688"/>
          </a:xfrm>
          <a:prstGeom prst="roundRect">
            <a:avLst>
              <a:gd name="adj" fmla="val 7843"/>
            </a:avLst>
          </a:prstGeom>
          <a:solidFill>
            <a:srgbClr val="F3F5F5"/>
          </a:solidFill>
          <a:ln w="12700">
            <a:solidFill>
              <a:srgbClr val="F3F5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 txBox="1"/>
          <p:nvPr/>
        </p:nvSpPr>
        <p:spPr>
          <a:xfrm>
            <a:off x="8412480" y="5084064"/>
            <a:ext cx="1280160" cy="932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9AA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1,04 mi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9710928" y="5084064"/>
            <a:ext cx="18470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funcionários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volume que muda a conta</a:t>
            </a:r>
            <a:endParaRPr 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22</a:t>
            </a:r>
          </a:p>
        </p:txBody>
      </p:sp>
      <p:sp>
        <p:nvSpPr>
          <p:cNvPr id="27" name="Rounded Rectangle 26">
            <a:hlinkClick r:id="rId3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28" name="Picture 27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29" name="Rounded Rectangle 28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30" name="Picture 29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ANEXO  ·  PROMPTS E ORQUESTRAÇÃO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Respostas consistentes e controladas, por construção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690372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Agente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Prompt em uso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 que o controle garante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Interpretador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interpretador_v3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Formato garantido pelo esquema; AMBÍGUO ou NÃO MAPEADO em vez de chute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Leitor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leitor_segmentacao_v2 · leitor_de_documentos_v5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A IA aponta onde está o dado; o código copia o valor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Conferidor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conferidor_da_leitura_v2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Só a dúvida forte; o texto da pergunta é montado pelo código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Agente de validação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assistente_correcao_v4 · pergunta_da_pendencia_v4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Preso à pendência; ações de uma lista fechada; 3 respostas sem valor encerram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Endomarketing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endomarketing_v5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Formato garantido; fonte em cada bloco; número só do catálogo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Guardrail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lista de frases + Bedrock Guardrails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O texto de fora vai à IA como dado, nunca como ordem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983480"/>
            <a:ext cx="6903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F2A30"/>
                </a:solidFill>
                <a:latin typeface="Calibri"/>
              </a:rPr>
              <a:t>Versionados no Git: </a:t>
            </a:r>
            <a:r>
              <a:rPr sz="1100" b="0" i="0">
                <a:solidFill>
                  <a:srgbClr val="1F2A30"/>
                </a:solidFill>
                <a:latin typeface="Calibri"/>
              </a:rPr>
              <a:t>cada mudança é um arquivo novo (v1, v2...), e a anterior fica como histórico. O porquê de cada versão está em docs/prompts.md.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508760"/>
            <a:ext cx="3959352" cy="475488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82127" y="164592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80">
                <a:solidFill>
                  <a:srgbClr val="1B7A6E"/>
                </a:solidFill>
                <a:latin typeface="Calibri"/>
              </a:rPr>
              <a:t>A ORQUESTRAÇÃO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82127" y="1993392"/>
            <a:ext cx="3566160" cy="4160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7A6E"/>
                </a:solidFill>
                <a:latin typeface="Calibri"/>
              </a:rPr>
              <a:t>Workflow controlado em LangGraph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F2A30"/>
                </a:solidFill>
                <a:latin typeface="Calibri"/>
              </a:rPr>
              <a:t>passos fixos, pausa para a pessoa decidir e retomada de onde parou (o ponto de salvamento fica no PostgreSQL)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7A6E"/>
                </a:solidFill>
                <a:latin typeface="Calibri"/>
              </a:rPr>
              <a:t>Um handoff entre agentes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F2A30"/>
                </a:solidFill>
                <a:latin typeface="Calibri"/>
              </a:rPr>
              <a:t>o Agente de validação devolve a coluna ao Interpretador, até 2 vezes por arquivo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7A6E"/>
                </a:solidFill>
                <a:latin typeface="Calibri"/>
              </a:rPr>
              <a:t>Contrato de saída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F2A30"/>
                </a:solidFill>
                <a:latin typeface="Calibri"/>
              </a:rPr>
              <a:t>resposta fora do contrato ganha uma segunda tentativa com o motivo; se falhar de novo, a falha aparece (nunca uma resposta simulada)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7A6E"/>
                </a:solidFill>
                <a:latin typeface="Calibri"/>
              </a:rPr>
              <a:t>Consistência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F2A30"/>
                </a:solidFill>
                <a:latin typeface="Calibri"/>
              </a:rPr>
              <a:t>temperatura 0 onde o modelo aceita; o contrato vale sempre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B7A6E"/>
                </a:solidFill>
                <a:latin typeface="Calibri"/>
              </a:rPr>
              <a:t>Limites de gasto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F2A30"/>
                </a:solidFill>
                <a:latin typeface="Calibri"/>
              </a:rPr>
              <a:t>50 chamadas e US$ 10 por operação; teto por dia e por mês, e a IA pausa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23</a:t>
            </a:r>
          </a:p>
        </p:txBody>
      </p:sp>
      <p:sp>
        <p:nvSpPr>
          <p:cNvPr id="11" name="Rounded Rectangle 10">
            <a:hlinkClick r:id="rId3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12" name="Picture 11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13" name="Rounded Rectangle 12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14" name="Picture 13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ANEXO  ·  MEMÓRIA E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O que a IA lembra e o que ela nunca consegue fazer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1B7A6E"/>
                </a:solidFill>
                <a:latin typeface="Calibri"/>
              </a:rPr>
              <a:t>OS QUATRO TIPOS DE MEMÓRIA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841248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1371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1B7A6E"/>
                </a:solidFill>
                <a:latin typeface="Calibri"/>
              </a:rPr>
              <a:t>Curto prazo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865376"/>
            <a:ext cx="3749039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0"/>
                </a:solidFill>
                <a:latin typeface="Calibri"/>
              </a:rPr>
              <a:t>O que vai em cada chamada; entre etapas, o ponto de salvamento do LangGraph, sem dado pessoal. Nenhum histórico de conversa.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5486400" cy="841248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2788920"/>
            <a:ext cx="1371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1B7A6E"/>
                </a:solidFill>
                <a:latin typeface="Calibri"/>
              </a:rPr>
              <a:t>Episódica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825496"/>
            <a:ext cx="3749039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0"/>
                </a:solidFill>
                <a:latin typeface="Calibri"/>
              </a:rPr>
              <a:t>O último mapeamento aprovado da empresa e os pares coluna → campo confirmados por 2 empresas (ADR-116).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39"/>
            <a:ext cx="5486400" cy="841248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749039"/>
            <a:ext cx="1371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1B7A6E"/>
                </a:solidFill>
                <a:latin typeface="Calibri"/>
              </a:rPr>
              <a:t>Semântica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785615"/>
            <a:ext cx="3749039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0"/>
                </a:solidFill>
                <a:latin typeface="Calibri"/>
              </a:rPr>
              <a:t>O parâmetro do layout (4 obrigatórios), as regras e o catálogo de cada empresa no RAG, com filtro por empresa e vigência.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5486400" cy="841248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4709160"/>
            <a:ext cx="13716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1B7A6E"/>
                </a:solidFill>
                <a:latin typeface="Calibri"/>
              </a:rPr>
              <a:t>Procedural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4745736"/>
            <a:ext cx="3749039" cy="7680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0"/>
                </a:solidFill>
                <a:latin typeface="Calibri"/>
              </a:rPr>
              <a:t>Prompts versionados no Git, contratos de saída e ferramentas permitidas. Sem ajuste fino.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1500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B7A6E"/>
                </a:solidFill>
                <a:latin typeface="Calibri"/>
              </a:rPr>
              <a:t>A memória fica fora do modelo: auditável, versionada e apagável. Só entra na memória o que uma pessoa aprovou.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4813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1B7A6E"/>
                </a:solidFill>
                <a:latin typeface="Calibri"/>
              </a:rPr>
              <a:t>GUARDRAILS EM TODOS OS AGENTES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1883664"/>
            <a:ext cx="457200" cy="457200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escu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002536"/>
            <a:ext cx="219456" cy="21945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49440" y="1828800"/>
            <a:ext cx="4663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Injeção na entrada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a lista (EXP-003: 100% × 0% de alarme falso) + o detector do Bedrock</a:t>
            </a:r>
          </a:p>
        </p:txBody>
      </p:sp>
      <p:sp>
        <p:nvSpPr>
          <p:cNvPr id="24" name="Oval 23"/>
          <p:cNvSpPr/>
          <p:nvPr/>
        </p:nvSpPr>
        <p:spPr>
          <a:xfrm>
            <a:off x="6355080" y="2523744"/>
            <a:ext cx="457200" cy="457200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642616"/>
            <a:ext cx="219456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49440" y="2468880"/>
            <a:ext cx="4663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Conferência na saída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contrato e formato garantido: 0 respostas fora (EXP-014)</a:t>
            </a:r>
          </a:p>
        </p:txBody>
      </p:sp>
      <p:sp>
        <p:nvSpPr>
          <p:cNvPr id="27" name="Oval 26"/>
          <p:cNvSpPr/>
          <p:nvPr/>
        </p:nvSpPr>
        <p:spPr>
          <a:xfrm>
            <a:off x="6355080" y="3163824"/>
            <a:ext cx="457200" cy="457200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cadead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3282696"/>
            <a:ext cx="219456" cy="21945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949440" y="3108960"/>
            <a:ext cx="4663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Isolamento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a empresa vem do login: 0 trecho de outra empresa (EXP-002, 006)</a:t>
            </a:r>
          </a:p>
        </p:txBody>
      </p:sp>
      <p:sp>
        <p:nvSpPr>
          <p:cNvPr id="30" name="Oval 29"/>
          <p:cNvSpPr/>
          <p:nvPr/>
        </p:nvSpPr>
        <p:spPr>
          <a:xfrm>
            <a:off x="6355080" y="3803903"/>
            <a:ext cx="457200" cy="457200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usuario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922775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949440" y="3749039"/>
            <a:ext cx="4663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Aprovação humana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a IA não tem ferramenta para aprovar nada</a:t>
            </a:r>
          </a:p>
        </p:txBody>
      </p:sp>
      <p:sp>
        <p:nvSpPr>
          <p:cNvPr id="33" name="Oval 32"/>
          <p:cNvSpPr/>
          <p:nvPr/>
        </p:nvSpPr>
        <p:spPr>
          <a:xfrm>
            <a:off x="6355080" y="4443983"/>
            <a:ext cx="457200" cy="457200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olh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4562855"/>
            <a:ext cx="219456" cy="21945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49440" y="4389120"/>
            <a:ext cx="4663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Auditoria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cada execução, handoff e acesso registrado, sem dado pessoal</a:t>
            </a:r>
          </a:p>
        </p:txBody>
      </p:sp>
      <p:sp>
        <p:nvSpPr>
          <p:cNvPr id="36" name="Oval 35"/>
          <p:cNvSpPr/>
          <p:nvPr/>
        </p:nvSpPr>
        <p:spPr>
          <a:xfrm>
            <a:off x="6355080" y="5084064"/>
            <a:ext cx="457200" cy="457200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relogi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5202936"/>
            <a:ext cx="219456" cy="21945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949440" y="5029200"/>
            <a:ext cx="46634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Limites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2 handoffs, 50 chamadas e US$ 10 por operação; teto por dia e mês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5715000"/>
            <a:ext cx="5285232" cy="502920"/>
          </a:xfrm>
          <a:prstGeom prst="roundRect">
            <a:avLst>
              <a:gd name="adj" fmla="val 2424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37960" y="571500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B7A6E"/>
                </a:solidFill>
                <a:latin typeface="Calibri"/>
              </a:rPr>
              <a:t>14 de 14 ataques do teste adversarial barrados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24</a:t>
            </a:r>
          </a:p>
        </p:txBody>
      </p:sp>
      <p:sp>
        <p:nvSpPr>
          <p:cNvPr id="43" name="Rounded Rectangle 42">
            <a:hlinkClick r:id="rId9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44" name="Picture 43" descr="image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45" name="Rounded Rectangle 44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46" name="Picture 45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ANEXO  ·  DADOS DA EMPRESA FICTÍCIA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Dados 100% sintéticos: produzidos, guardados e usados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3593592" cy="4160520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91640"/>
            <a:ext cx="502920" cy="502920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ras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567" y="1822399"/>
            <a:ext cx="241401" cy="2414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89888" y="169164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F2A30"/>
                </a:solidFill>
                <a:latin typeface="Cambria"/>
              </a:rPr>
              <a:t>1 · Produção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77440"/>
            <a:ext cx="32004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F2A30"/>
                </a:solidFill>
                <a:latin typeface="Calibri"/>
              </a:rPr>
              <a:t>Geradores com semente fixa: a mesma semente refaz os mesmos arquivos em qualquer máquina</a:t>
            </a:r>
          </a:p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F2A30"/>
                </a:solidFill>
                <a:latin typeface="Calibri"/>
              </a:rPr>
              <a:t>6 empresas com o gabarito de cada funcionário e arquivos com erros escondidos de propósito</a:t>
            </a:r>
          </a:p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F2A30"/>
                </a:solidFill>
                <a:latin typeface="Calibri"/>
              </a:rPr>
              <a:t>1.500 cabeçalhos de treino e 300 de prova, com o vocabulário da prova nunca visto no treino</a:t>
            </a:r>
          </a:p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F2A30"/>
                </a:solidFill>
                <a:latin typeface="Calibri"/>
              </a:rPr>
              <a:t>A base viva: 17 empresas com cerca de 3 meses de uso, carregadas sem IA</a:t>
            </a:r>
          </a:p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F2A30"/>
                </a:solidFill>
                <a:latin typeface="Calibri"/>
              </a:rPr>
              <a:t>CPF e CNPJ com o dígito verificador certo; e-mails em domínios ".example"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508760"/>
            <a:ext cx="3593592" cy="4160520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498847" y="1691640"/>
            <a:ext cx="502920" cy="502920"/>
          </a:xfrm>
          <a:prstGeom prst="ellipse">
            <a:avLst/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607" y="1822399"/>
            <a:ext cx="241401" cy="24140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38927" y="169164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F2A30"/>
                </a:solidFill>
                <a:latin typeface="Cambria"/>
              </a:rPr>
              <a:t>2 · Armazenamento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7" y="2377440"/>
            <a:ext cx="32004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0E2F33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F2A30"/>
                </a:solidFill>
                <a:latin typeface="Calibri"/>
              </a:rPr>
              <a:t>PostgreSQL 18: cadastros, envios, auditoria e o ponto de salvamento do fluxo</a:t>
            </a:r>
          </a:p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0E2F33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F2A30"/>
                </a:solidFill>
                <a:latin typeface="Calibri"/>
              </a:rPr>
              <a:t>ChromaDB com embeddings locais: o parâmetro, as regras, os catálogos e os mapeamentos aprovados</a:t>
            </a:r>
          </a:p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0E2F33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F2A30"/>
                </a:solidFill>
                <a:latin typeface="Calibri"/>
              </a:rPr>
              <a:t>Arquivos enviados e homologados no volume da aplicação, fora do Git, com o hash do original</a:t>
            </a:r>
          </a:p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0E2F33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F2A30"/>
                </a:solidFill>
                <a:latin typeface="Calibri"/>
              </a:rPr>
              <a:t>No Git: só os geradores, os gabaritos e as provas congeladas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508760"/>
            <a:ext cx="3593592" cy="4160520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47888" y="1691640"/>
            <a:ext cx="502920" cy="502920"/>
          </a:xfrm>
          <a:prstGeom prst="ellipse">
            <a:avLst/>
          </a:prstGeom>
          <a:solidFill>
            <a:srgbClr val="C98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engrenage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8647" y="1822399"/>
            <a:ext cx="241401" cy="24140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87967" y="169164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F2A30"/>
                </a:solidFill>
                <a:latin typeface="Cambria"/>
              </a:rPr>
              <a:t>3 · Uso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77440"/>
            <a:ext cx="32004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F2A30"/>
                </a:solidFill>
                <a:latin typeface="Calibri"/>
              </a:rPr>
              <a:t>Os agentes veem o dado real pelo Bedrock (retenção zero), só da empresa da sessão</a:t>
            </a:r>
          </a:p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F2A30"/>
                </a:solidFill>
                <a:latin typeface="Calibri"/>
              </a:rPr>
              <a:t>As regras padronizam e validam o arquivo inteiro, na aplicação</a:t>
            </a:r>
          </a:p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F2A30"/>
                </a:solidFill>
                <a:latin typeface="Calibri"/>
              </a:rPr>
              <a:t>O banco planeja só com números agregados; a telemetria nunca guarda CPF nem salário</a:t>
            </a:r>
          </a:p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1F2A30"/>
                </a:solidFill>
                <a:latin typeface="Calibri"/>
              </a:rPr>
              <a:t>A avaliação usa só a prova congelada: nada dela entra no prompt ou no RAG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779008"/>
            <a:ext cx="11091672" cy="50292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888736"/>
            <a:ext cx="10634472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B7A6E"/>
                </a:solidFill>
                <a:latin typeface="Calibri"/>
              </a:rPr>
              <a:t>Retenção e descarte: 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1F2A30"/>
                </a:solidFill>
                <a:latin typeface="Calibri"/>
              </a:rPr>
              <a:t>tudo é recriável pelos scripts; em produção, valem o prazo de guarda do banco e a LGPD.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25</a:t>
            </a:r>
          </a:p>
        </p:txBody>
      </p:sp>
      <p:sp>
        <p:nvSpPr>
          <p:cNvPr id="23" name="Rounded Rectangle 22">
            <a:hlinkClick r:id="rId6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24" name="Picture 23" descr="image.png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25" name="Rounded Rectangle 24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26" name="Picture 25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ANEXO  ·  COMO MEDIMOS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Cada decisão saiu de uma medição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81328"/>
            <a:ext cx="3063240" cy="480060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0934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80">
                <a:solidFill>
                  <a:srgbClr val="1B7A6E"/>
                </a:solidFill>
                <a:latin typeface="Calibri"/>
              </a:rPr>
              <a:t>O MÉTODO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2743200" cy="4251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50" b="1" i="0">
                <a:solidFill>
                  <a:srgbClr val="1B7A6E"/>
                </a:solidFill>
                <a:latin typeface="Calibri"/>
              </a:rPr>
              <a:t>Prova congelada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1F2A30"/>
                </a:solidFill>
                <a:latin typeface="Calibri"/>
              </a:rPr>
              <a:t>a impressão digital dos arquivos; o script se recusa a medir se algo mudou</a:t>
            </a:r>
          </a:p>
          <a:p>
            <a:pPr algn="l">
              <a:spcAft>
                <a:spcPts val="250"/>
              </a:spcAft>
            </a:pPr>
            <a:r>
              <a:rPr sz="1150" b="1" i="0">
                <a:solidFill>
                  <a:srgbClr val="1B7A6E"/>
                </a:solidFill>
                <a:latin typeface="Calibri"/>
              </a:rPr>
              <a:t>Vocabulário nunca visto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1F2A30"/>
                </a:solidFill>
                <a:latin typeface="Calibri"/>
              </a:rPr>
              <a:t>os nomes de coluna da prova não aparecem no treino nem no prompt</a:t>
            </a:r>
          </a:p>
          <a:p>
            <a:pPr algn="l">
              <a:spcAft>
                <a:spcPts val="250"/>
              </a:spcAft>
            </a:pPr>
            <a:r>
              <a:rPr sz="1150" b="1" i="0">
                <a:solidFill>
                  <a:srgbClr val="1B7A6E"/>
                </a:solidFill>
                <a:latin typeface="Calibri"/>
              </a:rPr>
              <a:t>Régua sem IA (B0)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1F2A30"/>
                </a:solidFill>
                <a:latin typeface="Calibri"/>
              </a:rPr>
              <a:t>o dicionário mostra quanto a IA agrega</a:t>
            </a:r>
          </a:p>
          <a:p>
            <a:pPr algn="l">
              <a:spcAft>
                <a:spcPts val="250"/>
              </a:spcAft>
            </a:pPr>
            <a:r>
              <a:rPr sz="1150" b="1" i="0">
                <a:solidFill>
                  <a:srgbClr val="1B7A6E"/>
                </a:solidFill>
                <a:latin typeface="Calibri"/>
              </a:rPr>
              <a:t>IC 95% e teste pareado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1F2A30"/>
                </a:solidFill>
                <a:latin typeface="Calibri"/>
              </a:rPr>
              <a:t>intervalo por reamostragem; McNemar com Holm no EXP-021</a:t>
            </a:r>
          </a:p>
          <a:p>
            <a:pPr algn="l">
              <a:spcAft>
                <a:spcPts val="250"/>
              </a:spcAft>
            </a:pPr>
            <a:r>
              <a:rPr sz="1150" b="1" i="0">
                <a:solidFill>
                  <a:srgbClr val="1B7A6E"/>
                </a:solidFill>
                <a:latin typeface="Calibri"/>
              </a:rPr>
              <a:t>Registro imutável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1F2A30"/>
                </a:solidFill>
                <a:latin typeface="Calibri"/>
              </a:rPr>
              <a:t>um arquivo por experimento; o negativo também fica</a:t>
            </a:r>
          </a:p>
          <a:p>
            <a:pPr algn="l">
              <a:spcAft>
                <a:spcPts val="250"/>
              </a:spcAft>
            </a:pPr>
            <a:r>
              <a:rPr sz="1150" b="1" i="0">
                <a:solidFill>
                  <a:srgbClr val="1B7A6E"/>
                </a:solidFill>
                <a:latin typeface="Calibri"/>
              </a:rPr>
              <a:t>Teto de gasto</a:t>
            </a:r>
          </a:p>
          <a:p>
            <a:pPr algn="l">
              <a:spcAft>
                <a:spcPts val="250"/>
              </a:spcAft>
            </a:pPr>
            <a:r>
              <a:rPr sz="1050" b="0" i="0">
                <a:solidFill>
                  <a:srgbClr val="1F2A30"/>
                </a:solidFill>
                <a:latin typeface="Calibri"/>
              </a:rPr>
              <a:t>e a resposta simulada nunca vale ponto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794760" y="1481328"/>
          <a:ext cx="7845552" cy="4579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9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EXP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O que medimos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Resultado  →  o que mudou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001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Régua sem IA (B0), 300 planilhas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50,9% por campo → vira a régua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002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Busca do RAG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100% nos primeiros trechos; 0 de outra empresa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003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Guardrail de injeção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detecção 80% → 100%; alarme falso 10% → 0%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004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Fluxo ponta a ponta, erros injetados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9 de 9 achados e homologados; 0 refeitas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005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Consultor: agente único × supervisor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12 de 12 nos dois; supervisor +67% chamadas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006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Endomarketing: fidelidade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202 de 202 barrados; negativo: 0 de 4 avisos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007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Primeiro teste com IA real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Consultor de 0 a 6 de 6 com o prompt v2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008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5 modelos (triagem de 27)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Sonnet 5 84,4% × dicionário 53,4%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009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SQLite × PostgreSQL, mesma bateria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3 defeitos achados e corrigidos → PostgreSQL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010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Preço da privacidade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etiquetas 91,3% × dado real 98,9%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011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IA local nesta máquina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11 min por planilha, 0 de 18 → descartada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012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Plano B no Bedrock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Sonnet 4.6 82,1%; Nova 2 Lite 31% por formato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013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Formato garantido, 7 modelos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Nova 2 Lite de 31% para 78,8%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014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7 modelos nas 30 planilhas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Sonnet 4.6 82,9% e Nova 2 Lite 81,6% → em uso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015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Conferidor da Leitura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18 de 18 erros achados → ligado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016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Conferidor v2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alarmes falsos 7 a 10 → 0, sem perder erro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017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Generalização no lote guardado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18 de 19 nos tipos vistos; texto difícil 0 de 7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018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Conferidor v2 reconfirmado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os números do EXP-016 ficam de pé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019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Endomarketing, todas as combinações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JSON quebrado em 28% → formato garantido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020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Endomarketing pelo RAGAS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fidelidade 0,87; o juiz é filtro, não régua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021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Ganho da IA por tipo de arquivo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0% → 100% fora do padrão; empate no padrão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816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2A30"/>
                          </a:solidFill>
                          <a:latin typeface="Calibri"/>
                        </a:rPr>
                        <a:t>022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Arquivos grandes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A30"/>
                          </a:solidFill>
                          <a:latin typeface="Calibri"/>
                        </a:rPr>
                        <a:t>1 chamada à IA por arquivo; pico abaixo de 1 GB</a:t>
                      </a:r>
                    </a:p>
                  </a:txBody>
                  <a:tcPr marT="18288" marB="18288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26</a:t>
            </a:r>
          </a:p>
        </p:txBody>
      </p:sp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11" name="Picture 10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12" name="Rounded Rectangle 11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13" name="Picture 12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ANEXO  ·  GANHO DA IA POR TIPO DE ARQUIVO (EXP-021)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Fora do padrão do banco, é a IA que faz o cadastro andar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81328"/>
          <a:ext cx="11091668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27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8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6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1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61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7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Tipo de arquivo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4 obrigatórios certos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Acerto por campo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Perguntas por arquivo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Custo por funcionário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Tempo p50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T1 · Planilha no padrão do banco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100% → 100%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100% → 100%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2,0 → 0,0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US$ 0,0071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39 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T2 · Colunas fora de ordem, a mais e faltando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100% → 100%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100% → 100%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3,2 → 0,0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US$ 0,0059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32 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T3 · Nomes de coluna próximos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0% → 100%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60,7% → 98,8%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6,4 → 2,2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US$ 0,0038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25 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T4 · Cabeçalho difícil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0% → 100%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49,3% → 100%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3,8 → 1,2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US$ 0,0030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19 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T5 · Word com tabela ou fichas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0% → 100%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72,1% → 100%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2,0 → 3,0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US$ 0,0029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15 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T6 · Word com texto corrido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0% → 100%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0% → 99,8%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recusado → 0,0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US$ 0,0197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75 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30"/>
                          </a:solidFill>
                          <a:latin typeface="Calibri"/>
                        </a:rPr>
                        <a:t>T7 · Word misturado, com armadilhas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0% → 90%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0% → 98,9%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recusado → 10,0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US$ 0,0267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F2A30"/>
                          </a:solidFill>
                          <a:latin typeface="Calibri"/>
                        </a:rPr>
                        <a:t>93 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46227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>
                <a:solidFill>
                  <a:srgbClr val="5E6B70"/>
                </a:solidFill>
                <a:latin typeface="Calibri"/>
              </a:rPr>
              <a:t>Sem IA (o dicionário B0 e as regras)  →  com IA (Interpretador, Leitor e Conferidor pelo Bedrock), nos MESMOS 35 arquivos e nas mesmas 75 pessoas fictícias. Com IA, o T7 ficou com 4 arquivos (a trava de custo parou antes do 5º).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46320"/>
            <a:ext cx="2606040" cy="141732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956048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 i="0">
                <a:solidFill>
                  <a:srgbClr val="1B7A6E"/>
                </a:solidFill>
                <a:latin typeface="Cambria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2240280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erro silencioso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em nenhum tipo: ninguém fica pronto com um obrigatório errado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4846320"/>
            <a:ext cx="2606040" cy="1417320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4956048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B7A6E"/>
                </a:solidFill>
                <a:latin typeface="Cambria"/>
              </a:rPr>
              <a:t>p &lt; 0,001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5486400"/>
            <a:ext cx="2240280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de T3 a T7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McNemar célula a célula, com a correção de Holm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846320"/>
            <a:ext cx="2606040" cy="1417320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4956048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1B7A6E"/>
                </a:solidFill>
                <a:latin typeface="Cambria"/>
              </a:rPr>
              <a:t>US$ 0,003–0,027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486400"/>
            <a:ext cx="2240280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por funcionário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o texto corrido é o mais caro; a medição toda: US$ 4,78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4846320"/>
            <a:ext cx="2862072" cy="1417320"/>
          </a:xfrm>
          <a:prstGeom prst="roundRect">
            <a:avLst>
              <a:gd name="adj" fmla="val 3000"/>
            </a:avLst>
          </a:prstGeom>
          <a:solidFill>
            <a:srgbClr val="FF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06840" y="4956048"/>
            <a:ext cx="2404872" cy="11978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Leitura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A30"/>
                </a:solidFill>
                <a:latin typeface="Calibri"/>
              </a:rPr>
              <a:t>No padrão do banco, a regra empata; a IA só tira as 2 a 3 perguntas. Fora dele, é ela que cadastra.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27</a:t>
            </a:r>
          </a:p>
        </p:txBody>
      </p:sp>
      <p:sp>
        <p:nvSpPr>
          <p:cNvPr id="19" name="Rounded Rectangle 18">
            <a:hlinkClick r:id="rId3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20" name="Picture 19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21" name="Rounded Rectangle 20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22" name="Picture 21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ANEXO  ·  EXP-022: ARQUIVOS GRANDES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1 chamada à IA por arquivo, qualquer que seja o tamanho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81328"/>
          <a:ext cx="11091672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1828800"/>
                <a:gridCol w="2194560"/>
                <a:gridCol w="2011680"/>
                <a:gridCol w="213055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Arquivo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Tamanho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Até o mapeamento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No aceite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Pico de memória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Calibri"/>
                        </a:rPr>
                        <a:t>1.000 linhas, CSV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Calibri"/>
                        </a:rPr>
                        <a:t>0,45 MB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Calibri"/>
                        </a:rPr>
                        <a:t>15 s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Calibri"/>
                        </a:rPr>
                        <a:t>5 s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Calibri"/>
                        </a:rPr>
                        <a:t>750 MB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Calibri"/>
                        </a:rPr>
                        <a:t>1.000 linhas, XLSX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Calibri"/>
                        </a:rPr>
                        <a:t>0,27 MB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Calibri"/>
                        </a:rPr>
                        <a:t>24 s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Calibri"/>
                        </a:rPr>
                        <a:t>20 s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Calibri"/>
                        </a:rPr>
                        <a:t>776 MB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Calibri"/>
                        </a:rPr>
                        <a:t>5.000 linhas, CSV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Calibri"/>
                        </a:rPr>
                        <a:t>2,3 MB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Calibri"/>
                        </a:rPr>
                        <a:t>17 s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Calibri"/>
                        </a:rPr>
                        <a:t>17 s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Calibri"/>
                        </a:rPr>
                        <a:t>815 MB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Calibri"/>
                        </a:rPr>
                        <a:t>5.000 linhas, XLSX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Calibri"/>
                        </a:rPr>
                        <a:t>1,3 MB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Calibri"/>
                        </a:rPr>
                        <a:t>62 s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Calibri"/>
                        </a:rPr>
                        <a:t>109 s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Calibri"/>
                        </a:rPr>
                        <a:t>928 MB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2A30"/>
                          </a:solidFill>
                          <a:latin typeface="Calibri"/>
                        </a:rPr>
                        <a:t>10.000 linhas, CSV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Calibri"/>
                        </a:rPr>
                        <a:t>4,5 MB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Calibri"/>
                        </a:rPr>
                        <a:t>36 s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Calibri"/>
                        </a:rPr>
                        <a:t>52 s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F2A30"/>
                          </a:solidFill>
                          <a:latin typeface="Calibri"/>
                        </a:rPr>
                        <a:t>917 MB</a:t>
                      </a: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767328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5E6B70"/>
                </a:solidFill>
                <a:latin typeface="Calibri"/>
              </a:rPr>
              <a:t>Em MOCK (a IA simulada, que conta cada chamada), num SQLite temporário, no notebook do projeto (i5, 16 GB), pelo caminho da tela: do envio até a proposta das colunas e, depois, o aceite (padronizar e validar). Limitação: medido até 10.000 linhas em CSV e 5.000 em XLSX; sem documentos (Word e PDF); medição interrompida.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343400"/>
            <a:ext cx="2606040" cy="1874519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53128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B7A6E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2240280" cy="11612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chamada à IA por arquivo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de 1.000 a 10.000 linhas: a IA lê os nomes e alguns exemplos das colunas, nunca todas as linhas. O custo não cresce com o arquivo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4343400"/>
            <a:ext cx="2606040" cy="1874519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4453128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7A6E"/>
                </a:solidFill>
                <a:latin typeface="Cambria"/>
              </a:rPr>
              <a:t>&lt; 1 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983480"/>
            <a:ext cx="2240280" cy="11612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de pico de memória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entre 750 e 928 MB em todos os arquivos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343400"/>
            <a:ext cx="2606040" cy="1874519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4453128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1B7A6E"/>
                </a:solidFill>
                <a:latin typeface="Cambria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983480"/>
            <a:ext cx="2240280" cy="11612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erro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os 5 arquivos chegaram ao fim da validação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4343400"/>
            <a:ext cx="2862072" cy="1874519"/>
          </a:xfrm>
          <a:prstGeom prst="roundRect">
            <a:avLst>
              <a:gd name="adj" fmla="val 3000"/>
            </a:avLst>
          </a:prstGeom>
          <a:solidFill>
            <a:srgbClr val="FF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4453128"/>
            <a:ext cx="2404872" cy="1655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Decisão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F2A30"/>
                </a:solidFill>
                <a:latin typeface="Calibri"/>
              </a:rPr>
              <a:t>Recomendar o CSV para as cargas grandes: com 5.000 linhas, o XLSX levou ≈ 5 vezes mais (171 s × 34 s, somando as duas etapas). A evolução é o processamento em lotes.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28</a:t>
            </a:r>
          </a:p>
        </p:txBody>
      </p:sp>
      <p:sp>
        <p:nvSpPr>
          <p:cNvPr id="19" name="Rounded Rectangle 18">
            <a:hlinkClick action="ppaction://hlinksldjump" r:id="rId5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20" name="Picture 19" descr="image.png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21" name="Rounded Rectangle 20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22" name="Picture 21" descr="image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ANEXO  ·  AGENTES  ·  INTERPRETADOR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Interpretador: cada coluna no campo certo do parâmetro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91672" cy="64008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545336"/>
            <a:ext cx="475488" cy="475488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46" y="1668962"/>
            <a:ext cx="228234" cy="2282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17320" y="14630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B7A6E"/>
                </a:solidFill>
                <a:latin typeface="Calibri"/>
              </a:rPr>
              <a:t>OBJETIVO   </a:t>
            </a:r>
            <a:r>
              <a:rPr sz="1450" b="1" i="0">
                <a:solidFill>
                  <a:srgbClr val="1F2A30"/>
                </a:solidFill>
                <a:latin typeface="Calibri"/>
              </a:rPr>
              <a:t>Ligar cada coluna do arquivo da empresa ao campo do parâmetro do banco.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3931920" cy="19385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36829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COMO FUNCIONA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60904"/>
            <a:ext cx="35478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Regra e reuso primeiro; a IA só vê as colunas que sobram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RAG traz o parâmetro e os mapeamentos aprovados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Responde o campo, AMBÍGUO, NÃO MAPEADO ou DIVIDIR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A empresa aceita as colunas antes de seguir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240280"/>
            <a:ext cx="3931920" cy="19385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18888" y="236829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660904"/>
            <a:ext cx="35478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Campo fora do parâmetro ou repetido vira pergunta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Fonte que não estava no pedido é removida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Fora do contrato: segunda tentativa; depois, tudo a confirmar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As amostras vão entre marcas: são dado, nunca instrução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15968"/>
            <a:ext cx="3931920" cy="1938528"/>
          </a:xfrm>
          <a:prstGeom prst="roundRect">
            <a:avLst>
              <a:gd name="adj" fmla="val 3000"/>
            </a:avLst>
          </a:prstGeom>
          <a:solidFill>
            <a:srgbClr val="FF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443983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C98212"/>
                </a:solidFill>
                <a:latin typeface="Calibri"/>
              </a:rPr>
              <a:t>TESTES E MÉTRICAS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736592"/>
            <a:ext cx="35478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82,9% por campo × 53,4% sem IA, 30 planilhas (EXP-014)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Nomes próximos: 60,7% → 98,8%; cabeçalho difícil: 49,3% → 100% (EXP-021)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0 respostas fora do contrato com o formato garantido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IA pequena: 81,6% a US$ 0,008 por planilha (EXP-014)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315968"/>
            <a:ext cx="3931920" cy="19385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18888" y="4443983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TÉCNICAS DE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4736592"/>
            <a:ext cx="35478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RAG no parâmetro e nos pares aprovados (memória que aprende)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Saída estruturada com formato garantido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Abstenção: a dúvida vira pergunta, não chute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Prompt versionado (interpretador_v3)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240280"/>
            <a:ext cx="2953512" cy="1938528"/>
          </a:xfrm>
          <a:prstGeom prst="roundRect">
            <a:avLst>
              <a:gd name="adj" fmla="val 3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87968" y="235000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7FC4B8"/>
                </a:solidFill>
                <a:latin typeface="Calibri"/>
              </a:rPr>
              <a:t>NÚMERO PRINCIPAL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265176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82,9%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3410712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de acerto por campo</a:t>
            </a:r>
          </a:p>
          <a:p>
            <a:pPr algn="l"/>
            <a:r>
              <a:rPr sz="1000" b="0" i="0">
                <a:solidFill>
                  <a:srgbClr val="CFE3DF"/>
                </a:solidFill>
                <a:latin typeface="Calibri"/>
              </a:rPr>
              <a:t>contra 53,4% do dicionário sem IA, nas mesmas 30 planilhas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4315968"/>
            <a:ext cx="2953512" cy="19385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87968" y="444398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MODELO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4727448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IA grande · Claude Sonnet 4.6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5303520"/>
            <a:ext cx="2606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E6B70"/>
                </a:solidFill>
                <a:latin typeface="Calibri"/>
              </a:rPr>
              <a:t>Pelo Bedrock. A inclusão com as mesmas colunas reusa o mapeamento: 0 chamadas à IA.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29</a:t>
            </a:r>
          </a:p>
        </p:txBody>
      </p:sp>
      <p:sp>
        <p:nvSpPr>
          <p:cNvPr id="30" name="Rounded Rectangle 29">
            <a:hlinkClick r:id="rId4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31" name="Picture 30" descr="image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32" name="Rounded Rectangle 31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33" name="Picture 32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ANEXO  ·  AGENTES  ·  LEITOR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Agente Leitor: o texto corrido vira cadastro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91672" cy="64008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545336"/>
            <a:ext cx="475488" cy="475488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46" y="1668962"/>
            <a:ext cx="228234" cy="2282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17320" y="14630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B7A6E"/>
                </a:solidFill>
                <a:latin typeface="Calibri"/>
              </a:rPr>
              <a:t>OBJETIVO   </a:t>
            </a:r>
            <a:r>
              <a:rPr sz="1450" b="1" i="0">
                <a:solidFill>
                  <a:srgbClr val="1F2A30"/>
                </a:solidFill>
                <a:latin typeface="Calibri"/>
              </a:rPr>
              <a:t>Transformar um Word em texto corrido numa lista de funcionários no parâmetro.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3931920" cy="19385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36829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COMO FUNCIONA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60904"/>
            <a:ext cx="35478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Tabela e fichas: lidas por regra, sem IA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A IA pequena marca onde começa cada pessoa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A IA grande lê uma pessoa por chamada, em paralelo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Cada valor vem com o trecho que o prova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240280"/>
            <a:ext cx="3931920" cy="19385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18888" y="236829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660904"/>
            <a:ext cx="35478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O valor é copiado do documento pelo código, e não pela IA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Dado de terceiro não entra; o conflito vira pergunta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A regra avisa o parágrafo com dado esquecido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O parágrafo com ordem para a IA sai antes da leitura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15968"/>
            <a:ext cx="3931920" cy="1938528"/>
          </a:xfrm>
          <a:prstGeom prst="roundRect">
            <a:avLst>
              <a:gd name="adj" fmla="val 3000"/>
            </a:avLst>
          </a:prstGeom>
          <a:solidFill>
            <a:srgbClr val="FF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443983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C98212"/>
                </a:solidFill>
                <a:latin typeface="Calibri"/>
              </a:rPr>
              <a:t>TESTES E MÉTRICAS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736592"/>
            <a:ext cx="35478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99,8% por campo no texto corrido; 98,9% no misturado (EXP-021)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99,5% no documento real, às cegas; a v1 fazia 0% (EXP-010)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8 de 8 armadilhas viraram pergunta; 0 dado de terceiro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O limite: texto muito difícil, 0 de 7 exatos no lote guardado (EXP-017)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315968"/>
            <a:ext cx="3931920" cy="19385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18888" y="4443983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TÉCNICAS DE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4736592"/>
            <a:ext cx="35478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Segmentação (IA pequena) + leitura (IA grande)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Formato garantido: campo só do parâmetro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Pergunta em vez de chute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Esforço de raciocínio controlado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240280"/>
            <a:ext cx="2953512" cy="1938528"/>
          </a:xfrm>
          <a:prstGeom prst="roundRect">
            <a:avLst>
              <a:gd name="adj" fmla="val 3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87968" y="235000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7FC4B8"/>
                </a:solidFill>
                <a:latin typeface="Calibri"/>
              </a:rPr>
              <a:t>NÚMERO PRINCIPAL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265176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99,8%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3410712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por campo no Word em texto corrido</a:t>
            </a:r>
          </a:p>
          <a:p>
            <a:pPr algn="l"/>
            <a:r>
              <a:rPr sz="1000" b="0" i="0">
                <a:solidFill>
                  <a:srgbClr val="CFE3DF"/>
                </a:solidFill>
                <a:latin typeface="Calibri"/>
              </a:rPr>
              <a:t>sem a IA, o documento voltava para a empresa (0%)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4315968"/>
            <a:ext cx="2953512" cy="19385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87968" y="444398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MODELO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4727448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Nova 2 Lite divide · Sonnet 4.6 lê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5303520"/>
            <a:ext cx="2606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E6B70"/>
                </a:solidFill>
                <a:latin typeface="Calibri"/>
              </a:rPr>
              <a:t>Prompts leitor_segmentacao_v2 e leitor_de_documentos_v5. O EXP-010 foi medido com a geração anterior (Sonnet 5 + Luna).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30</a:t>
            </a:r>
          </a:p>
        </p:txBody>
      </p:sp>
      <p:sp>
        <p:nvSpPr>
          <p:cNvPr id="30" name="Rounded Rectangle 29">
            <a:hlinkClick r:id="rId4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31" name="Picture 30" descr="image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32" name="Rounded Rectangle 31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33" name="Picture 32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ANEXO  ·  AGENTES  ·  CONFERIDOR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Agente Conferidor: uma segunda IA desconfia da primeira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91672" cy="64008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545336"/>
            <a:ext cx="475488" cy="475488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46" y="1668962"/>
            <a:ext cx="228234" cy="2282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17320" y="14630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B7A6E"/>
                </a:solidFill>
                <a:latin typeface="Calibri"/>
              </a:rPr>
              <a:t>OBJETIVO   </a:t>
            </a:r>
            <a:r>
              <a:rPr sz="1450" b="1" i="0">
                <a:solidFill>
                  <a:srgbClr val="1F2A30"/>
                </a:solidFill>
                <a:latin typeface="Calibri"/>
              </a:rPr>
              <a:t>Achar erros de entendimento na leitura antes que virem cadastro.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3931920" cy="19385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36829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COMO FUNCIONA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60904"/>
            <a:ext cx="35478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Recebe o trecho e o que foi lido, sem o raciocínio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Procura o valor que o documento dá à mesma pessoa e ao mesmo campo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Só a dúvida forte vira pergunta à empresa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O texto da pergunta é montado pelo código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240280"/>
            <a:ext cx="3931920" cy="19385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18888" y="236829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660904"/>
            <a:ext cx="35478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Não corrige nada: só pergunta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Suspeita sobre pessoa ou campo que não existe é descartada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Valor igual ao lido descarta a suspeita (dinheiro, CPF e data)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Fora do formato: zero suspeitas, e as regras seguem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15968"/>
            <a:ext cx="3931920" cy="1938528"/>
          </a:xfrm>
          <a:prstGeom prst="roundRect">
            <a:avLst>
              <a:gd name="adj" fmla="val 3000"/>
            </a:avLst>
          </a:prstGeom>
          <a:solidFill>
            <a:srgbClr val="FF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443983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C98212"/>
                </a:solidFill>
                <a:latin typeface="Calibri"/>
              </a:rPr>
              <a:t>TESTES E MÉTRICAS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736592"/>
            <a:ext cx="35478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v2: 0 alarme falso nas 6 rodadas; a v1 tinha 7 a 10 (EXP-016)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Erros de verdade: 5 de 5 e 18 de 18 em cada rodada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Perguntas simples: 0% → 100%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Reconfirmado depois de um conserto (EXP-018); ≈ US$ 0,002 por documento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315968"/>
            <a:ext cx="3931920" cy="19385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18888" y="4443983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TÉCNICAS DE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4736592"/>
            <a:ext cx="35478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Verificação cruzada por um segundo modelo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Humano no circuito: a empresa decide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Saída conferida pelo código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Prompt versionado (conferidor_da_leitura_v2)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240280"/>
            <a:ext cx="2953512" cy="1938528"/>
          </a:xfrm>
          <a:prstGeom prst="roundRect">
            <a:avLst>
              <a:gd name="adj" fmla="val 3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87968" y="235000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7FC4B8"/>
                </a:solidFill>
                <a:latin typeface="Calibri"/>
              </a:rPr>
              <a:t>NÚMERO PRINCIPAL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265176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3410712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alarme falso na v2</a:t>
            </a:r>
          </a:p>
          <a:p>
            <a:pPr algn="l"/>
            <a:r>
              <a:rPr sz="1000" b="0" i="0">
                <a:solidFill>
                  <a:srgbClr val="CFE3DF"/>
                </a:solidFill>
                <a:latin typeface="Calibri"/>
              </a:rPr>
              <a:t>com todos os erros de verdade achados, nas 3 repetições (EXP-016)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4315968"/>
            <a:ext cx="2953512" cy="19385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87968" y="444398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MODELO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4727448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IA pequena · Amazon Nova 2 Lite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5303520"/>
            <a:ext cx="2606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E6B70"/>
                </a:solidFill>
                <a:latin typeface="Calibri"/>
              </a:rPr>
              <a:t>De outro fornecedor que o Leitor (Sonnet 4.6), para não repetir o mesmo erro.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31</a:t>
            </a:r>
          </a:p>
        </p:txBody>
      </p:sp>
      <p:sp>
        <p:nvSpPr>
          <p:cNvPr id="30" name="Rounded Rectangle 29">
            <a:hlinkClick r:id="rId4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31" name="Picture 30" descr="image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32" name="Rounded Rectangle 31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33" name="Picture 32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ANEXO  ·  AGENTES  ·  AGENTE DE VALIDAÇÃO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Agente de validação: a pendência resolvida numa conversa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91672" cy="64008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545336"/>
            <a:ext cx="475488" cy="475488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46" y="1668962"/>
            <a:ext cx="228234" cy="2282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17320" y="14630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B7A6E"/>
                </a:solidFill>
                <a:latin typeface="Calibri"/>
              </a:rPr>
              <a:t>OBJETIVO   </a:t>
            </a:r>
            <a:r>
              <a:rPr sz="1450" b="1" i="0">
                <a:solidFill>
                  <a:srgbClr val="1F2A30"/>
                </a:solidFill>
                <a:latin typeface="Calibri"/>
              </a:rPr>
              <a:t>Conversar com a empresa sobre cada pendência até o dado ficar certo.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3931920" cy="19385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36829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COMO FUNCIONA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60904"/>
            <a:ext cx="35478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Cada pendência vira uma pergunta simples, com o valor lido à vista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A resposta é conferida na hora com todas as regras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Valor certo: aplica na hora, com Desfazer; o mesmo valor em várias pessoas numa pergunta só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Coluna mal entendida: devolve ao Interpretador (handoff)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240280"/>
            <a:ext cx="3931920" cy="19385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18888" y="236829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660904"/>
            <a:ext cx="35478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A mensagem passa pela portaria antes da IA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Presa à pendência: outro campo ou outra linha é "fora do assunto"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Ações de uma lista fechada; a IA nunca inventa valor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Encerra após 3 respostas sem valor; até 2 handoffs por arquivo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15968"/>
            <a:ext cx="3931920" cy="1938528"/>
          </a:xfrm>
          <a:prstGeom prst="roundRect">
            <a:avLst>
              <a:gd name="adj" fmla="val 3000"/>
            </a:avLst>
          </a:prstGeom>
          <a:solidFill>
            <a:srgbClr val="FF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443983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C98212"/>
                </a:solidFill>
                <a:latin typeface="Calibri"/>
              </a:rPr>
              <a:t>TESTES E MÉTRICAS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736592"/>
            <a:ext cx="35478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Fluxo com erros injetados: 9 de 9 achados e homologados (EXP-004)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5 de 9 arquivos sem edição manual; 3,8 decisões humanas por arquivo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Medido em modo simulado; a decisão é sempre de uma pessoa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Na operação: o joinha em cada resposta e a aceitação na tela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315968"/>
            <a:ext cx="3931920" cy="19385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18888" y="4443983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TÉCNICAS DE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4736592"/>
            <a:ext cx="35478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Handoff entre agentes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Ferramentas numa lista fechada (tool use)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Conferência da resposta por regra, no código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Prompts versionados (v4)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240280"/>
            <a:ext cx="2953512" cy="1938528"/>
          </a:xfrm>
          <a:prstGeom prst="roundRect">
            <a:avLst>
              <a:gd name="adj" fmla="val 3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87968" y="235000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7FC4B8"/>
                </a:solidFill>
                <a:latin typeface="Calibri"/>
              </a:rPr>
              <a:t>NÚMERO PRINCIPAL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265176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9 de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3410712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erros achados e homologados</a:t>
            </a:r>
          </a:p>
          <a:p>
            <a:pPr algn="l"/>
            <a:r>
              <a:rPr sz="1000" b="0" i="0">
                <a:solidFill>
                  <a:srgbClr val="CFE3DF"/>
                </a:solidFill>
                <a:latin typeface="Calibri"/>
              </a:rPr>
              <a:t>fluxo de ponta a ponta com erros injetados (EXP-004)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4315968"/>
            <a:ext cx="2953512" cy="19385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87968" y="444398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MODELO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4727448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IA grande · Claude Sonnet 4.6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5303520"/>
            <a:ext cx="2606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E6B70"/>
                </a:solidFill>
                <a:latin typeface="Calibri"/>
              </a:rPr>
              <a:t>No código, é o Assistente de Correção. A pergunta de cada pendência é escrita pela IA pequena (Nova 2 Lite), com o pergunta_da_pendencia_v4.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32</a:t>
            </a:r>
          </a:p>
        </p:txBody>
      </p:sp>
      <p:sp>
        <p:nvSpPr>
          <p:cNvPr id="30" name="Rounded Rectangle 29">
            <a:hlinkClick r:id="rId4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31" name="Picture 30" descr="image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32" name="Rounded Rectangle 31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33" name="Picture 32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ANEXO  ·  AGENTES  ·  ENDOMARKETING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Agente de Endomarketing: o banco gera, a empresa comunica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91672" cy="64008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545336"/>
            <a:ext cx="475488" cy="475488"/>
          </a:xfrm>
          <a:prstGeom prst="ellipse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46" y="1668962"/>
            <a:ext cx="228234" cy="2282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17320" y="14630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i="0">
                <a:solidFill>
                  <a:srgbClr val="1B7A6E"/>
                </a:solidFill>
                <a:latin typeface="Calibri"/>
              </a:rPr>
              <a:t>OBJETIVO   </a:t>
            </a:r>
            <a:r>
              <a:rPr sz="1450" b="1" i="0">
                <a:solidFill>
                  <a:srgbClr val="1F2A30"/>
                </a:solidFill>
                <a:latin typeface="Calibri"/>
              </a:rPr>
              <a:t>Escrever os materiais que a empresa divulga, com os benefícios que o banco escolheu.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3931920" cy="19385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36829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COMO FUNCIONA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60904"/>
            <a:ext cx="35478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O especialista escolhe a empresa, o tipo, o canal e os benefícios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Busca só no catálogo daquela empresa, publicado e vigente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Escreve em blocos, cada um citando a fonte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O especialista confere e publica; a empresa só baixa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240280"/>
            <a:ext cx="3931920" cy="19385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18888" y="236829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660904"/>
            <a:ext cx="35478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Filtro por empresa na busca, e não no prompt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Número ou link fora do catálogo: o bloco sai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Destaque com ordem para a IA é recusado antes dela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Nunca cita pessoas: só o total sem conta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15968"/>
            <a:ext cx="3931920" cy="1938528"/>
          </a:xfrm>
          <a:prstGeom prst="roundRect">
            <a:avLst>
              <a:gd name="adj" fmla="val 3000"/>
            </a:avLst>
          </a:prstGeom>
          <a:solidFill>
            <a:srgbClr val="FF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4443983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C98212"/>
                </a:solidFill>
                <a:latin typeface="Calibri"/>
              </a:rPr>
              <a:t>TESTES E MÉTRICAS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736592"/>
            <a:ext cx="35478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4.440 combinações da tela testadas (EXP-019)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JSON quebrado em 28% das chamadas → formato garantido (ADR-150)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Fidelidade à fonte citada: 0,87 pelo RAGAS (EXP-020)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8212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202 de 202 adulterações barradas (EXP-006)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315968"/>
            <a:ext cx="3931920" cy="19385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18888" y="4443983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TÉCNICAS DE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4736592"/>
            <a:ext cx="3547872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RAG com filtro por empresa e vigência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Citação de fonte em cada bloco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LLM como juiz (RAGAS), usado como filtro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Aprovação humana; agente único, de propósito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240280"/>
            <a:ext cx="2953512" cy="1938528"/>
          </a:xfrm>
          <a:prstGeom prst="roundRect">
            <a:avLst>
              <a:gd name="adj" fmla="val 3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87968" y="235000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50">
                <a:solidFill>
                  <a:srgbClr val="7FC4B8"/>
                </a:solidFill>
                <a:latin typeface="Calibri"/>
              </a:rPr>
              <a:t>NÚMERO PRINCIPAL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2651760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0,87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3410712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de fidelidade à fonte citada</a:t>
            </a:r>
          </a:p>
          <a:p>
            <a:pPr algn="l"/>
            <a:r>
              <a:rPr sz="1000" b="0" i="0">
                <a:solidFill>
                  <a:srgbClr val="CFE3DF"/>
                </a:solidFill>
                <a:latin typeface="Calibri"/>
              </a:rPr>
              <a:t>o juiz de IA é filtro: kappa 0,25 entre dois juízes (EXP-020)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4315968"/>
            <a:ext cx="2953512" cy="1938528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87968" y="444398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1B7A6E"/>
                </a:solidFill>
                <a:latin typeface="Calibri"/>
              </a:rPr>
              <a:t>MODELO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8" y="4727448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IA grande · Claude Sonnet 4.6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7968" y="5303520"/>
            <a:ext cx="2606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E6B70"/>
                </a:solidFill>
                <a:latin typeface="Calibri"/>
              </a:rPr>
              <a:t>O catálogo de benefícios é definido pelo banco para cada empresa (KBs com trava e versões).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33</a:t>
            </a:r>
          </a:p>
        </p:txBody>
      </p:sp>
      <p:sp>
        <p:nvSpPr>
          <p:cNvPr id="30" name="Rounded Rectangle 29">
            <a:hlinkClick r:id="rId4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31" name="Picture 30" descr="image.png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32" name="Rounded Rectangle 31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33" name="Picture 32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ANEXO  ·  ENDOMARKETING (EXP-019 E EXP-020)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Onde ele não gera, e o quanto é fiel ao catálogo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80">
                <a:solidFill>
                  <a:srgbClr val="1B7A6E"/>
                </a:solidFill>
                <a:latin typeface="Calibri"/>
              </a:rPr>
              <a:t>EXP-019 · 4.440 COMBINAÇÕES DA TELA, EM 29 EMPRESAS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10512"/>
          <a:ext cx="5715000" cy="1737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Situação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Quantas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Por quê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Gerado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2.160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o rascunho sai para o especialista conferir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E6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Sem catálogo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1.056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22 das 29 empresas sem KB de benefício publicada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Recusado na portaria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888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"ignore as regras" barrado antes da IA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Nenhum benefício marcado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336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a tela pede pelo menos um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033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80">
                <a:solidFill>
                  <a:srgbClr val="1B7A6E"/>
                </a:solidFill>
                <a:latin typeface="Calibri"/>
              </a:rPr>
              <a:t>COM A IA REAL (137 COMBINAÇÕES, US$ 3,34)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41648"/>
            <a:ext cx="5715000" cy="640080"/>
          </a:xfrm>
          <a:prstGeom prst="roundRect">
            <a:avLst>
              <a:gd name="adj" fmla="val 3000"/>
            </a:avLst>
          </a:prstGeom>
          <a:solidFill>
            <a:srgbClr val="FF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041648"/>
            <a:ext cx="1508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C98212"/>
                </a:solidFill>
                <a:latin typeface="Calibri"/>
              </a:rPr>
              <a:t>28% das chamadas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041648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0"/>
                </a:solidFill>
                <a:latin typeface="Calibri"/>
              </a:rPr>
              <a:t>quebravam o JSON pelas aspas do catálogo → formato garantido no prompt v5 (ADR-150)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773168"/>
            <a:ext cx="5715000" cy="640080"/>
          </a:xfrm>
          <a:prstGeom prst="roundRect">
            <a:avLst>
              <a:gd name="adj" fmla="val 3000"/>
            </a:avLst>
          </a:prstGeom>
          <a:solidFill>
            <a:srgbClr val="FF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773168"/>
            <a:ext cx="1508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C98212"/>
                </a:solidFill>
                <a:latin typeface="Calibri"/>
              </a:rPr>
              <a:t>44 de 86 gerados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773168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0"/>
                </a:solidFill>
                <a:latin typeface="Calibri"/>
              </a:rPr>
              <a:t>perdiam um bloco legítimo pelo link com a pontuação colada → corrigido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504688"/>
            <a:ext cx="5715000" cy="640080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504688"/>
            <a:ext cx="15087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1B7A6E"/>
                </a:solidFill>
                <a:latin typeface="Calibri"/>
              </a:rPr>
              <a:t>0 de 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504688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1F2A30"/>
                </a:solidFill>
                <a:latin typeface="Calibri"/>
              </a:rPr>
              <a:t>o ataque disfarçado passou pelo detector, e a IA não obedeceu (nenhum "juros zero")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48132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80">
                <a:solidFill>
                  <a:srgbClr val="1B7A6E"/>
                </a:solidFill>
                <a:latin typeface="Calibri"/>
              </a:rPr>
              <a:t>EXP-020 · OS 86 MATERIAIS PELO RAGAS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810512"/>
            <a:ext cx="1645920" cy="118872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192024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B7A6E"/>
                </a:solidFill>
                <a:latin typeface="Cambria"/>
              </a:rPr>
              <a:t>0,87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450591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fiel à fonte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IC 0,85–0,89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57031" y="1810512"/>
            <a:ext cx="1645920" cy="1188720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39911" y="192024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B7A6E"/>
                </a:solidFill>
                <a:latin typeface="Cambria"/>
              </a:rPr>
              <a:t>0,94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2450591"/>
            <a:ext cx="12801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fiel ao catálogo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a 2ª conferência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21824" y="1810512"/>
            <a:ext cx="1618488" cy="1188720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04704" y="1920240"/>
            <a:ext cx="12527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5E6B70"/>
                </a:solidFill>
                <a:latin typeface="Cambria"/>
              </a:rPr>
              <a:t>0,62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04704" y="2450591"/>
            <a:ext cx="125272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relevância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serve para comparar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3136392"/>
            <a:ext cx="5148072" cy="1417320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3200400"/>
            <a:ext cx="480060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1F2A30"/>
                </a:solidFill>
                <a:latin typeface="Calibri"/>
              </a:rPr>
              <a:t>Um segundo juiz de IA (o GPT, 50 blocos): </a:t>
            </a:r>
            <a:r>
              <a:rPr sz="1100" b="0" i="0">
                <a:solidFill>
                  <a:srgbClr val="1F2A30"/>
                </a:solidFill>
                <a:latin typeface="Calibri"/>
              </a:rPr>
              <a:t>82% dos blocos inteiros no trecho citado, e nenhum dos 9 com problema inventa número, prazo, taxa ou condição. O que sobra é citação incompleta.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4681728"/>
            <a:ext cx="5148072" cy="1572768"/>
          </a:xfrm>
          <a:prstGeom prst="roundRect">
            <a:avLst>
              <a:gd name="adj" fmla="val 3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4754880"/>
            <a:ext cx="4800600" cy="1444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7FC4B8"/>
                </a:solidFill>
                <a:latin typeface="Calibri"/>
              </a:rPr>
              <a:t>O juiz é filtro, não régua (ADR-152)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Os dois juízes de IA concordam pouco (kappa 0,25). O que o juiz aprova tende a valer; o que ele aponta vai para revisão. Sem calibração humana: a evolução é uma amostra rotulada por pessoas.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34</a:t>
            </a:r>
          </a:p>
        </p:txBody>
      </p:sp>
      <p:sp>
        <p:nvSpPr>
          <p:cNvPr id="32" name="Rounded Rectangle 31">
            <a:hlinkClick r:id="rId3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33" name="Picture 32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34" name="Rounded Rectangle 33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35" name="Picture 34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ANEXO  ·  SEGURANÇA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O acesso de fora é protegido, e cada proteção tem um teste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80">
                <a:solidFill>
                  <a:srgbClr val="1B7A6E"/>
                </a:solidFill>
                <a:latin typeface="Calibri"/>
              </a:rPr>
              <a:t>AS CINCO PROPRIEDADES, PROVADAS POR TESTE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0512"/>
            <a:ext cx="5623560" cy="585216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4944" y="19476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194767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47088"/>
            <a:ext cx="49377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O usuário externo se autentica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sem autocadastro; senha só como hash bcrypt; 5 erros bloqueiam 15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87168"/>
            <a:ext cx="5623560" cy="585216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94944" y="2624327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2624327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23744"/>
            <a:ext cx="49377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Cada usuário pertence a uma empresa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toda rota usa a empresa da sessão, nunca a que a tela manda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63824"/>
            <a:ext cx="5623560" cy="585216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4944" y="330098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" y="330098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200400"/>
            <a:ext cx="49377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Uma empresa não abre o que é da outra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trocar o id não abre; a resposta é igual à de um envio que não existe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79"/>
            <a:ext cx="5623560" cy="585216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94944" y="397763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4944" y="397763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877055"/>
            <a:ext cx="49377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Os arquivos são privados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tipo real pelos primeiros bytes; 5 MB; o arquivo baixado sai sem fórmula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17136"/>
            <a:ext cx="5623560" cy="585216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94944" y="465429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" y="465429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553712"/>
            <a:ext cx="49377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A IA só pelo servidor, com o mesmo isolamento</a:t>
            </a:r>
          </a:p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o RAG filtra a empresa antes do prompt; a ordem vai como dado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48132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80">
                <a:solidFill>
                  <a:srgbClr val="1B7A6E"/>
                </a:solidFill>
                <a:latin typeface="Calibri"/>
              </a:rPr>
              <a:t>A BATERIA DE SEGURANÇA (30/09)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1810512"/>
            <a:ext cx="1645920" cy="1005840"/>
          </a:xfrm>
          <a:prstGeom prst="roundRect">
            <a:avLst>
              <a:gd name="adj" fmla="val 3000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29400" y="192024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B7A6E"/>
                </a:solidFill>
                <a:latin typeface="Cambria"/>
              </a:rPr>
              <a:t>151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450591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testes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02168" y="1810512"/>
            <a:ext cx="1645920" cy="1005840"/>
          </a:xfrm>
          <a:prstGeom prst="roundRect">
            <a:avLst>
              <a:gd name="adj" fmla="val 3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85048" y="1920240"/>
            <a:ext cx="12801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B7A6E"/>
                </a:solidFill>
                <a:latin typeface="Cambria"/>
              </a:rPr>
              <a:t>105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2450591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passam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57816" y="1810512"/>
            <a:ext cx="1682496" cy="1005840"/>
          </a:xfrm>
          <a:prstGeom prst="roundRect">
            <a:avLst>
              <a:gd name="adj" fmla="val 3000"/>
            </a:avLst>
          </a:prstGeom>
          <a:solidFill>
            <a:srgbClr val="FF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140696" y="1920240"/>
            <a:ext cx="131673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C98212"/>
                </a:solidFill>
                <a:latin typeface="Cambria"/>
              </a:rPr>
              <a:t>46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0696" y="2450591"/>
            <a:ext cx="131673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achados na fila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446520" y="2944368"/>
          <a:ext cx="5193791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1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2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Área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Passam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 que segue aberto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2A30"/>
                          </a:solidFill>
                          <a:latin typeface="Calibri"/>
                        </a:rPr>
                        <a:t>Acesso e sessão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31 / 39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limite por endereço; política de senha forte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2A30"/>
                          </a:solidFill>
                          <a:latin typeface="Calibri"/>
                        </a:rPr>
                        <a:t>Entradas e arquivos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36 / 53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arquivo que infla; limite de frequência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2A30"/>
                          </a:solidFill>
                          <a:latin typeface="Calibri"/>
                        </a:rPr>
                        <a:t>Exposição de informação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17 / 23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mensagens técnicas em erro; cache com CPF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2A30"/>
                          </a:solidFill>
                          <a:latin typeface="Calibri"/>
                        </a:rPr>
                        <a:t>IA e prompt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21 / 36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F2A30"/>
                          </a:solidFill>
                          <a:latin typeface="Calibri"/>
                        </a:rPr>
                        <a:t>ordem disfarçada; link no texto da IA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6446520" y="4709160"/>
            <a:ext cx="5193792" cy="1572768"/>
          </a:xfrm>
          <a:prstGeom prst="roundRect">
            <a:avLst>
              <a:gd name="adj" fmla="val 3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47688" y="4800600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7FC4B8"/>
                </a:solidFill>
                <a:latin typeface="Calibri"/>
              </a:rPr>
              <a:t>A IA tem uma portaria em camadas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a lista de frases pega a ordem clara; o detector do Bedrock Guardrails pegou </a:t>
            </a:r>
            <a:r>
              <a:rPr sz="1050" b="1" i="0">
                <a:solidFill>
                  <a:srgbClr val="FFFFFF"/>
                </a:solidFill>
                <a:latin typeface="Calibri"/>
              </a:rPr>
              <a:t>11 de 11</a:t>
            </a:r>
            <a:r>
              <a:rPr sz="1050" b="0" i="0">
                <a:solidFill>
                  <a:srgbClr val="FFFFFF"/>
                </a:solidFill>
                <a:latin typeface="Calibri"/>
              </a:rPr>
              <a:t> ataques, com 0 alarme falso em 4 mensagens de RH (a lista, sozinha, pegaria 3); o texto de fora vai como dado; a saída é conferida; e uma pessoa aprova.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257800"/>
            <a:ext cx="56235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C98212"/>
                </a:solidFill>
                <a:latin typeface="Calibri"/>
              </a:rPr>
              <a:t>O primeiro da fila: </a:t>
            </a:r>
            <a:r>
              <a:rPr sz="1050" b="0" i="0">
                <a:solidFill>
                  <a:srgbClr val="1F2A30"/>
                </a:solidFill>
                <a:latin typeface="Calibri"/>
              </a:rPr>
              <a:t>o aprendizado compartilhado do RAG pode levar um nome de coluna com dado pessoal ao prompt de outra empresa. Os testes de troca de id entre empresas passam todos.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35</a:t>
            </a:r>
          </a:p>
        </p:txBody>
      </p:sp>
      <p:sp>
        <p:nvSpPr>
          <p:cNvPr id="41" name="Rounded Rectangle 40">
            <a:hlinkClick r:id="rId3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42" name="Picture 41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43" name="Rounded Rectangle 42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44" name="Picture 43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ANEXO  ·  PRIVACIDADE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A privacidade vem do destino do dado, não de um filtro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93976" cy="1691640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7A6E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57400"/>
            <a:ext cx="1783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F2A30"/>
                </a:solidFill>
                <a:latin typeface="Calibri"/>
              </a:rPr>
              <a:t>APIs diretas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E6B70"/>
                </a:solidFill>
                <a:latin typeface="Calibri"/>
              </a:rPr>
              <a:t>Anthropic e OpenAI: o fornecedor recebia o pedido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2350008"/>
            <a:ext cx="137160" cy="0"/>
          </a:xfrm>
          <a:prstGeom prst="line">
            <a:avLst/>
          </a:prstGeom>
          <a:ln w="19050">
            <a:solidFill>
              <a:srgbClr val="1B7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98064" y="1508760"/>
            <a:ext cx="2093976" cy="1691640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2656" y="1627632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7A6E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2057400"/>
            <a:ext cx="1783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F2A30"/>
                </a:solidFill>
                <a:latin typeface="Calibri"/>
              </a:rPr>
              <a:t>A preocupação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E6B70"/>
                </a:solidFill>
                <a:latin typeface="Calibri"/>
              </a:rPr>
              <a:t>Dado pessoal de funcionário indo para uma IA externa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01183" y="2350008"/>
            <a:ext cx="137161" cy="0"/>
          </a:xfrm>
          <a:prstGeom prst="line">
            <a:avLst/>
          </a:prstGeom>
          <a:ln w="19050">
            <a:solidFill>
              <a:srgbClr val="1B7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47488" y="1508760"/>
            <a:ext cx="2093976" cy="1691640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79" y="1627632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7A6E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9" y="2057400"/>
            <a:ext cx="1783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F2A30"/>
                </a:solidFill>
                <a:latin typeface="Calibri"/>
              </a:rPr>
              <a:t>Etiquetas e máscara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E6B70"/>
                </a:solidFill>
                <a:latin typeface="Calibri"/>
              </a:rPr>
              <a:t>−7 pontos no texto misturado e não garantia 100%: 'MariaSouza' e CPF por extenso passavam (EXP-010)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50607" y="2350008"/>
            <a:ext cx="137161" cy="0"/>
          </a:xfrm>
          <a:prstGeom prst="line">
            <a:avLst/>
          </a:prstGeom>
          <a:ln w="19050">
            <a:solidFill>
              <a:srgbClr val="1B7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296912" y="1508760"/>
            <a:ext cx="2093976" cy="1691640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1504" y="1627632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7A6E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2057400"/>
            <a:ext cx="1783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F2A30"/>
                </a:solidFill>
                <a:latin typeface="Calibri"/>
              </a:rPr>
              <a:t>IA local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E6B70"/>
                </a:solidFill>
                <a:latin typeface="Calibri"/>
              </a:rPr>
              <a:t>O dado não sai, mas 11 min por planilha e 0 de 18 colunas (EXP-011)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00032" y="2350008"/>
            <a:ext cx="137160" cy="0"/>
          </a:xfrm>
          <a:prstGeom prst="line">
            <a:avLst/>
          </a:prstGeom>
          <a:ln w="19050">
            <a:solidFill>
              <a:srgbClr val="1B7A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46336" y="1508760"/>
            <a:ext cx="2093976" cy="1691640"/>
          </a:xfrm>
          <a:prstGeom prst="roundRect">
            <a:avLst>
              <a:gd name="adj" fmla="val 2424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0928" y="1627632"/>
            <a:ext cx="457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B7A6E"/>
                </a:solidFill>
                <a:latin typeface="Cambri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2057400"/>
            <a:ext cx="17830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F2A30"/>
                </a:solidFill>
                <a:latin typeface="Calibri"/>
              </a:rPr>
              <a:t>Bedrock</a:t>
            </a:r>
          </a:p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5E6B70"/>
                </a:solidFill>
                <a:latin typeface="Calibri"/>
              </a:rPr>
              <a:t>Fornecedor sem acesso, perfil EUA, sem modelos que guardam pedidos: a IA vê o dado real (ADR-101)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401568"/>
            <a:ext cx="3703320" cy="2834640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3529584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7A6E"/>
                </a:solidFill>
                <a:latin typeface="Calibri"/>
              </a:rPr>
              <a:t>O QUE CONTINUA VALENDO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877056"/>
            <a:ext cx="33832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F2A30"/>
                </a:solidFill>
                <a:latin typeface="Calibri"/>
              </a:rPr>
              <a:t>Empresa A nunca vê a B: a empresa vem do login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F2A30"/>
                </a:solidFill>
                <a:latin typeface="Calibri"/>
              </a:rPr>
              <a:t>Todo acesso a dado pessoal é registrado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F2A30"/>
                </a:solidFill>
                <a:latin typeface="Calibri"/>
              </a:rPr>
              <a:t>O planejamento do banco só com números agregados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F2A30"/>
                </a:solidFill>
                <a:latin typeface="Calibri"/>
              </a:rPr>
              <a:t>Oferta ativa só para correntista que autorizou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B7A6E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1F2A30"/>
                </a:solidFill>
                <a:latin typeface="Calibri"/>
              </a:rPr>
              <a:t>Conteúdo do arquivo é dado, nunca ordem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401568"/>
            <a:ext cx="3611880" cy="2834640"/>
          </a:xfrm>
          <a:prstGeom prst="roundRect">
            <a:avLst>
              <a:gd name="adj" fmla="val 2424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36008" y="3529584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7A6E"/>
                </a:solidFill>
                <a:latin typeface="Calibri"/>
              </a:rPr>
              <a:t>A EMPRESA VÊ A CONTA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3877056"/>
            <a:ext cx="32461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1F2A30"/>
                </a:solidFill>
                <a:latin typeface="Calibri"/>
              </a:rPr>
              <a:t>Agência, número e data de abertura de cada funcionário dela, para pagar o salário (ADR-102).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5E6B70"/>
                </a:solidFill>
                <a:latin typeface="Calibri"/>
              </a:rPr>
              <a:t>Base: consentimento dado na abertura da conta (LC 105/2001, art. 1º, § 3º, V), premissa para o jurídico.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3401568"/>
            <a:ext cx="3410712" cy="2834640"/>
          </a:xfrm>
          <a:prstGeom prst="roundRect">
            <a:avLst>
              <a:gd name="adj" fmla="val 2424"/>
            </a:avLst>
          </a:prstGeom>
          <a:solidFill>
            <a:srgbClr val="FFF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85632" y="3529584"/>
            <a:ext cx="2898648" cy="2578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C98212"/>
                </a:solidFill>
                <a:latin typeface="Calibri"/>
              </a:rPr>
              <a:t>Para o jurídico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F2A30"/>
                </a:solidFill>
                <a:latin typeface="Calibri"/>
              </a:rPr>
              <a:t>Transferência internacional (LGPD, art. 33): o pedido é processado nos EUA. Em São Paulo, o Bedrock oferece o Claude só com roteamento global.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36</a:t>
            </a:r>
          </a:p>
        </p:txBody>
      </p:sp>
      <p:sp>
        <p:nvSpPr>
          <p:cNvPr id="35" name="Rounded Rectangle 34">
            <a:hlinkClick r:id="rId3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36" name="Picture 35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37" name="Rounded Rectangle 36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38" name="Picture 37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 ·  USO RESPONSÁVEL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Ética, privacidade e responsabilidade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FF1D9"/>
          </a:solidFill>
          <a:ln w="12700">
            <a:solidFill>
              <a:srgbClr val="FFF1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C98212"/>
          </a:solidFill>
          <a:ln w="12700">
            <a:solidFill>
              <a:srgbClr val="C9821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2017166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Finalidade (LGPD)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5603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finalidades: vínculo da folha, análise de risco e oferta ativa, esta só para correntista que autorizou.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97680" y="16002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3F5F5"/>
          </a:solidFill>
          <a:ln w="12700">
            <a:solidFill>
              <a:srgbClr val="F3F5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572000" y="1874520"/>
            <a:ext cx="548640" cy="548640"/>
          </a:xfrm>
          <a:prstGeom prst="ellipse">
            <a:avLst/>
          </a:prstGeom>
          <a:solidFill>
            <a:srgbClr val="1B7A6E"/>
          </a:solidFill>
          <a:ln w="12700">
            <a:solidFill>
              <a:srgbClr val="1B7A6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646" y="201716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5780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Minimização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25603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coluna em dúvida fica sem rótulo, fora das análises; a desconhecida é descartada (LGPD, art. 6º, III).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160020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3F5F5"/>
          </a:solidFill>
          <a:ln w="12700">
            <a:solidFill>
              <a:srgbClr val="F3F5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8321040" y="1874520"/>
            <a:ext cx="548640" cy="548640"/>
          </a:xfrm>
          <a:prstGeom prst="ellipse">
            <a:avLst/>
          </a:prstGeom>
          <a:solidFill>
            <a:srgbClr val="1B7A6E"/>
          </a:solidFill>
          <a:ln w="12700">
            <a:solidFill>
              <a:srgbClr val="1B7A6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686" y="201716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0684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discriminação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256032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sensíveis marcados no parâmetro ficam fora do motor; renda atípica é alerta, não acusação.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38404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3F5F5"/>
          </a:solidFill>
          <a:ln w="12700">
            <a:solidFill>
              <a:srgbClr val="F3F5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1B7A6E"/>
          </a:solidFill>
          <a:ln w="12700">
            <a:solidFill>
              <a:srgbClr val="1B7A6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606" y="4257446"/>
            <a:ext cx="263347" cy="26334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0876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Supervisão humana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22960" y="4800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ambíguo, correções e homologação exigem decisão humana.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297680" y="38404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3F5F5"/>
          </a:solidFill>
          <a:ln w="12700">
            <a:solidFill>
              <a:srgbClr val="F3F5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4572000" y="4114800"/>
            <a:ext cx="548640" cy="548640"/>
          </a:xfrm>
          <a:prstGeom prst="ellipse">
            <a:avLst/>
          </a:prstGeom>
          <a:solidFill>
            <a:srgbClr val="1B7A6E"/>
          </a:solidFill>
          <a:ln w="12700">
            <a:solidFill>
              <a:srgbClr val="1B7A6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646" y="4257446"/>
            <a:ext cx="263347" cy="26334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5780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Transparência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0" y="4800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Mapeamentos e textos do Endomarketing mostram a fonte; estimativas mostram premissas.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8046720" y="384048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3F5F5"/>
          </a:solidFill>
          <a:ln w="12700">
            <a:solidFill>
              <a:srgbClr val="F3F5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5"/>
          <p:cNvSpPr/>
          <p:nvPr/>
        </p:nvSpPr>
        <p:spPr>
          <a:xfrm>
            <a:off x="8321040" y="4114800"/>
            <a:ext cx="548640" cy="548640"/>
          </a:xfrm>
          <a:prstGeom prst="ellipse">
            <a:avLst/>
          </a:prstGeom>
          <a:solidFill>
            <a:srgbClr val="1B7A6E"/>
          </a:solidFill>
          <a:ln w="12700">
            <a:solidFill>
              <a:srgbClr val="1B7A6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3686" y="4257446"/>
            <a:ext cx="263347" cy="26334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0684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Números confiáveis</a:t>
            </a:r>
            <a:endParaRPr lang="en-US" sz="1700" dirty="0"/>
          </a:p>
        </p:txBody>
      </p:sp>
      <p:sp>
        <p:nvSpPr>
          <p:cNvPr id="35" name="Text 27"/>
          <p:cNvSpPr txBox="1"/>
          <p:nvPr/>
        </p:nvSpPr>
        <p:spPr>
          <a:xfrm>
            <a:off x="8321040" y="4800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valores vêm das regras; o Endomarketing só cita número que está no catálogo.</a:t>
            </a:r>
            <a:endParaRPr lang="en-US" sz="125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100% sintéticos no MVP. IA pelo Bedrock, sem o fornecedor ver os pedidos; finalidades e transferência internacional a validar com o jurídico.</a:t>
            </a:r>
            <a:endParaRPr 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37</a:t>
            </a:r>
          </a:p>
        </p:txBody>
      </p:sp>
      <p:sp>
        <p:nvSpPr>
          <p:cNvPr id="39" name="Rounded Rectangle 38">
            <a:hlinkClick r:id="rId9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40" name="Picture 39" descr="image.png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41" name="Rounded Rectangle 40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42" name="Picture 41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ANEXO  ·  CUSTO EM ESCALA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1,1 milhão de cadastros por ano: ≈ US$ 120 mil no pior cenário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566160" cy="3154680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459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1B7A6E"/>
                </a:solidFill>
                <a:latin typeface="Calibri"/>
              </a:rPr>
              <a:t>CENÁRIO TÍPICO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202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90% por regra; IA só no texto e nas colunas novas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395728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E6B70"/>
                </a:solidFill>
                <a:latin typeface="Calibri"/>
              </a:rPr>
              <a:t>IA (Bedrock)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395728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>
                <a:solidFill>
                  <a:srgbClr val="1F2A30"/>
                </a:solidFill>
                <a:latin typeface="Calibri"/>
              </a:rPr>
              <a:t>US$ 12 mil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2491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E6B70"/>
                </a:solidFill>
                <a:latin typeface="Calibri"/>
              </a:rPr>
              <a:t>Nuvem 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724912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>
                <a:solidFill>
                  <a:srgbClr val="1F2A30"/>
                </a:solidFill>
                <a:latin typeface="Calibri"/>
              </a:rPr>
              <a:t>US$ 4 mil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3108960"/>
            <a:ext cx="3054096" cy="13716"/>
          </a:xfrm>
          <a:prstGeom prst="rect">
            <a:avLst/>
          </a:prstGeom>
          <a:solidFill>
            <a:srgbClr val="D5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3200400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US$ 16 mil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7947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7A6E"/>
                </a:solidFill>
                <a:latin typeface="Calibri"/>
              </a:rPr>
              <a:t>≈ R$ 90 mil por ano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133087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E6B70"/>
                </a:solidFill>
                <a:latin typeface="Calibri"/>
              </a:rPr>
              <a:t>R$ 0,08 por funcionário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1396" y="1508760"/>
            <a:ext cx="3566160" cy="3154680"/>
          </a:xfrm>
          <a:prstGeom prst="roundRect">
            <a:avLst>
              <a:gd name="adj" fmla="val 2424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67428" y="16459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7FC4B8"/>
                </a:solidFill>
                <a:latin typeface="Calibri"/>
              </a:rPr>
              <a:t>PIOR CENÁRIO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7428" y="19202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CFE3DF"/>
                </a:solidFill>
                <a:latin typeface="Calibri"/>
              </a:rPr>
              <a:t>tudo em texto corrido, releitura, sem reuso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7428" y="2395728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CFE3DF"/>
                </a:solidFill>
                <a:latin typeface="Calibri"/>
              </a:rPr>
              <a:t>IA (Bedrock)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0196" y="2395728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>
                <a:solidFill>
                  <a:srgbClr val="FFFFFF"/>
                </a:solidFill>
                <a:latin typeface="Calibri"/>
              </a:rPr>
              <a:t>US$ 110 mil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7428" y="272491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CFE3DF"/>
                </a:solidFill>
                <a:latin typeface="Calibri"/>
              </a:rPr>
              <a:t>Nuvem AWS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0196" y="2724912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>
                <a:solidFill>
                  <a:srgbClr val="FFFFFF"/>
                </a:solidFill>
                <a:latin typeface="Calibri"/>
              </a:rPr>
              <a:t>US$ 7,5 mil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67428" y="3108960"/>
            <a:ext cx="3054096" cy="13716"/>
          </a:xfrm>
          <a:prstGeom prst="rect">
            <a:avLst/>
          </a:prstGeom>
          <a:solidFill>
            <a:srgbClr val="163E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67428" y="3200400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US$ 120 mil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7428" y="37947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7FC4B8"/>
                </a:solidFill>
                <a:latin typeface="Calibri"/>
              </a:rPr>
              <a:t>≈ R$ 0,66 MM por ano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7428" y="4133087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CFE3DF"/>
                </a:solidFill>
                <a:latin typeface="Calibri"/>
              </a:rPr>
              <a:t>R$ 0,60 por funcionário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4152" y="1508760"/>
            <a:ext cx="3566160" cy="3154680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0183" y="16459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50">
                <a:solidFill>
                  <a:srgbClr val="1B7A6E"/>
                </a:solidFill>
                <a:latin typeface="Calibri"/>
              </a:rPr>
              <a:t>TETO TEÓRICO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3" y="19202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E6B70"/>
                </a:solidFill>
                <a:latin typeface="Calibri"/>
              </a:rPr>
              <a:t>o custo mais alto medido, em tudo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3" y="2395728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E6B70"/>
                </a:solidFill>
                <a:latin typeface="Calibri"/>
              </a:rPr>
              <a:t>IA (Bedrock)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2952" y="2395728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>
                <a:solidFill>
                  <a:srgbClr val="1F2A30"/>
                </a:solidFill>
                <a:latin typeface="Calibri"/>
              </a:rPr>
              <a:t>US$ 270 mil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0183" y="272491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E6B70"/>
                </a:solidFill>
                <a:latin typeface="Calibri"/>
              </a:rPr>
              <a:t>Nuvem AWS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2952" y="2724912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>
                <a:solidFill>
                  <a:srgbClr val="1F2A30"/>
                </a:solidFill>
                <a:latin typeface="Calibri"/>
              </a:rPr>
              <a:t>US$ 12 mil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30183" y="3108960"/>
            <a:ext cx="3054096" cy="13716"/>
          </a:xfrm>
          <a:prstGeom prst="rect">
            <a:avLst/>
          </a:prstGeom>
          <a:solidFill>
            <a:srgbClr val="D5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30183" y="3200400"/>
            <a:ext cx="31089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US$ 290 mil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0183" y="37947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7A6E"/>
                </a:solidFill>
                <a:latin typeface="Calibri"/>
              </a:rPr>
              <a:t>≈ R$ 1,6 MM por ano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0183" y="4133087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E6B70"/>
                </a:solidFill>
                <a:latin typeface="Calibri"/>
              </a:rPr>
              <a:t>R$ 1,45 por funcionário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8463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1B7A6E"/>
                </a:solidFill>
                <a:latin typeface="Calibri"/>
              </a:rPr>
              <a:t>PREMISSAS (AS DE NEGÓCIO ESTÃO EM VALIDAÇÃO COM A ÁREA)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193792"/>
            <a:ext cx="5486400" cy="457200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9808" y="5193792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0"/>
                </a:solidFill>
                <a:latin typeface="Calibri"/>
              </a:rPr>
              <a:t>1,1 milhão de funcionários por ano; ≈ 22 mil empresas com 50 cada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53912" y="5193792"/>
            <a:ext cx="5486400" cy="457200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55079" y="5193792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0"/>
                </a:solidFill>
                <a:latin typeface="Calibri"/>
              </a:rPr>
              <a:t>1 carga inicial + 12 arquivos de inclusão por empresa, por ano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724144"/>
            <a:ext cx="5486400" cy="457200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9808" y="5724144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0"/>
                </a:solidFill>
                <a:latin typeface="Calibri"/>
              </a:rPr>
              <a:t>Preços oficiais AWS, us-east-1, set/2026; câmbio R$ 5,50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53912" y="5724144"/>
            <a:ext cx="5486400" cy="457200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55079" y="5724144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0"/>
                </a:solidFill>
                <a:latin typeface="Calibri"/>
              </a:rPr>
              <a:t>2 contêineres, PostgreSQL Multi-AZ, balanceador, logs e segredos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199632"/>
            <a:ext cx="110916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1">
                <a:solidFill>
                  <a:srgbClr val="5E6B70"/>
                </a:solidFill>
                <a:latin typeface="Calibri"/>
              </a:rPr>
              <a:t>O pior cenário foi estimado com o texto corrido a ≈ US$ 0,05 por pessoa (28/09); o EXP-021 mediu depois US$ 0,020 a 0,027 por funcionário: a estimativa fica do lado conservador.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38</a:t>
            </a:r>
          </a:p>
        </p:txBody>
      </p:sp>
      <p:sp>
        <p:nvSpPr>
          <p:cNvPr id="51" name="Rounded Rectangle 50">
            <a:hlinkClick r:id="rId3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52" name="Picture 51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53" name="Rounded Rectangle 52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54" name="Picture 53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ANEXO  ·  RETORNO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O pior cenário custa 0,6% do retorno esperado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6675120" cy="4727448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64208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7A6E"/>
                </a:solidFill>
                <a:latin typeface="Calibri"/>
              </a:rPr>
              <a:t>POR ANO, EM REAIS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468880"/>
            <a:ext cx="2011680" cy="3246120"/>
          </a:xfrm>
          <a:prstGeom prst="rect">
            <a:avLst/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1901952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1B7A6E"/>
                </a:solidFill>
                <a:latin typeface="Cambria"/>
              </a:rPr>
              <a:t>R$ 115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78815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F2A30"/>
                </a:solidFill>
                <a:latin typeface="Calibri"/>
              </a:rPr>
              <a:t>oportunidade em 12 meses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5687568"/>
            <a:ext cx="2011680" cy="27432"/>
          </a:xfrm>
          <a:prstGeom prst="rect">
            <a:avLst/>
          </a:prstGeom>
          <a:solidFill>
            <a:srgbClr val="B54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0" y="507492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B5452F"/>
                </a:solidFill>
                <a:latin typeface="Cambria"/>
              </a:rPr>
              <a:t>R$ 0,66 MM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78815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F2A30"/>
                </a:solidFill>
                <a:latin typeface="Calibri"/>
              </a:rPr>
              <a:t>custo no pior cenário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5715000"/>
            <a:ext cx="5669280" cy="13716"/>
          </a:xfrm>
          <a:prstGeom prst="rect">
            <a:avLst/>
          </a:prstGeom>
          <a:solidFill>
            <a:srgbClr val="5E6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52360" y="1508760"/>
            <a:ext cx="4187952" cy="960120"/>
          </a:xfrm>
          <a:prstGeom prst="roundRect">
            <a:avLst>
              <a:gd name="adj" fmla="val 2424"/>
            </a:avLst>
          </a:prstGeom>
          <a:solidFill>
            <a:srgbClr val="F3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16952" y="1508760"/>
            <a:ext cx="1600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1B7A6E"/>
                </a:solidFill>
                <a:latin typeface="Cambria"/>
              </a:rPr>
              <a:t>≈ R$ 170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1581912"/>
            <a:ext cx="2221992" cy="8138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1F2A30"/>
                </a:solidFill>
                <a:latin typeface="Calibri"/>
              </a:rPr>
              <a:t>de potencial para cada R$ 1</a:t>
            </a:r>
          </a:p>
          <a:p>
            <a:pPr algn="l"/>
            <a:r>
              <a:rPr sz="1100" b="0" i="0">
                <a:solidFill>
                  <a:srgbClr val="5E6B70"/>
                </a:solidFill>
                <a:latin typeface="Calibri"/>
              </a:rPr>
              <a:t>de custo de IA e nuvem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606040"/>
            <a:ext cx="4187952" cy="3630168"/>
          </a:xfrm>
          <a:prstGeom prst="roundRect">
            <a:avLst>
              <a:gd name="adj" fmla="val 2424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0" y="2734056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B7A6E"/>
                </a:solidFill>
                <a:latin typeface="Calibri"/>
              </a:rPr>
              <a:t>ALAVANCAS PARA BAIXAR O CUSTO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081528"/>
            <a:ext cx="960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B7A6E"/>
                </a:solidFill>
                <a:latin typeface="Cambria"/>
              </a:rPr>
              <a:t>−85%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081528"/>
            <a:ext cx="2834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0"/>
                </a:solidFill>
                <a:latin typeface="Calibri"/>
              </a:rPr>
              <a:t>Nova 2 Lite no Interpretador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3685032"/>
            <a:ext cx="960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B7A6E"/>
                </a:solidFill>
                <a:latin typeface="Cambria"/>
              </a:rPr>
              <a:t>−50%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685032"/>
            <a:ext cx="2834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0"/>
                </a:solidFill>
                <a:latin typeface="Calibri"/>
              </a:rPr>
              <a:t>lote do Bedrock na carga inicial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288536"/>
            <a:ext cx="960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B7A6E"/>
                </a:solidFill>
                <a:latin typeface="Cambria"/>
              </a:rPr>
              <a:t>−90%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288536"/>
            <a:ext cx="2834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0"/>
                </a:solidFill>
                <a:latin typeface="Calibri"/>
              </a:rPr>
              <a:t>cache na parte fixa do prompt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892040"/>
            <a:ext cx="960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B7A6E"/>
                </a:solidFill>
                <a:latin typeface="Cambria"/>
              </a:rPr>
              <a:t>US$ 0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892040"/>
            <a:ext cx="2834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0"/>
                </a:solidFill>
                <a:latin typeface="Calibri"/>
              </a:rPr>
              <a:t>inclusão com as mesmas colunas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5495544"/>
            <a:ext cx="960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1B7A6E"/>
                </a:solidFill>
                <a:latin typeface="Cambria"/>
              </a:rPr>
              <a:t>GPU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495544"/>
            <a:ext cx="2834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F2A30"/>
                </a:solidFill>
                <a:latin typeface="Calibri"/>
              </a:rPr>
              <a:t>modelo aberto no banco, acima de US$ 30 mil/ano de 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39</a:t>
            </a:r>
          </a:p>
        </p:txBody>
      </p:sp>
      <p:sp>
        <p:nvSpPr>
          <p:cNvPr id="32" name="Rounded Rectangle 31">
            <a:hlinkClick r:id="rId3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33" name="Picture 32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34" name="Rounded Rectangle 33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35" name="Picture 34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2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 ·  PLANO DE IMPLEMENTAÇÃO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construção à produção no banco</a:t>
            </a:r>
            <a:endParaRPr lang="en-US" sz="38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Melhorias previstas: modelo de risco de renda com os alertas rotulados  ·  funcionário que troca de empresa</a:t>
            </a:r>
            <a:endParaRPr lang="en-US" sz="1300" dirty="0"/>
          </a:p>
        </p:txBody>
      </p:sp>
      <p:sp>
        <p:nvSpPr>
          <p:cNvPr id="25" name="Secao construcao"/>
          <p:cNvSpPr txBox="1"/>
          <p:nvPr/>
        </p:nvSpPr>
        <p:spPr>
          <a:xfrm>
            <a:off x="548640" y="1737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F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FOI CONSTRUÍDA · 15 FASES EM 4 BLOCOS</a:t>
            </a:r>
            <a:endParaRPr lang="en-US" sz="1300" dirty="0"/>
          </a:p>
        </p:txBody>
      </p:sp>
      <p:sp>
        <p:nvSpPr>
          <p:cNvPr id="26" name="Bloco 1"/>
          <p:cNvSpPr/>
          <p:nvPr/>
        </p:nvSpPr>
        <p:spPr>
          <a:xfrm>
            <a:off x="548640" y="2057400"/>
            <a:ext cx="2601468" cy="1097280"/>
          </a:xfrm>
          <a:prstGeom prst="roundRect">
            <a:avLst>
              <a:gd name="adj" fmla="val 5161"/>
            </a:avLst>
          </a:prstGeom>
          <a:solidFill>
            <a:srgbClr val="163E43"/>
          </a:solidFill>
          <a:ln w="12700">
            <a:solidFill>
              <a:srgbClr val="163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Bloco 1 titulo"/>
          <p:cNvSpPr txBox="1"/>
          <p:nvPr/>
        </p:nvSpPr>
        <p:spPr>
          <a:xfrm>
            <a:off x="731520" y="2148840"/>
            <a:ext cx="2372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Fundação</a:t>
            </a:r>
            <a:endParaRPr lang="en-US" sz="1900" dirty="0"/>
          </a:p>
        </p:txBody>
      </p:sp>
      <p:sp>
        <p:nvSpPr>
          <p:cNvPr id="28" name="Bloco 1 texto"/>
          <p:cNvSpPr txBox="1"/>
          <p:nvPr/>
        </p:nvSpPr>
        <p:spPr>
          <a:xfrm>
            <a:off x="731520" y="2542032"/>
            <a:ext cx="2327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Contratos, dados sintéticos, parâmetros e RAG</a:t>
            </a:r>
            <a:endParaRPr lang="en-US" sz="1350" dirty="0"/>
          </a:p>
        </p:txBody>
      </p:sp>
      <p:sp>
        <p:nvSpPr>
          <p:cNvPr id="29" name="Bloco 2"/>
          <p:cNvSpPr/>
          <p:nvPr/>
        </p:nvSpPr>
        <p:spPr>
          <a:xfrm>
            <a:off x="3378708" y="2057400"/>
            <a:ext cx="2601468" cy="1097280"/>
          </a:xfrm>
          <a:prstGeom prst="roundRect">
            <a:avLst>
              <a:gd name="adj" fmla="val 5161"/>
            </a:avLst>
          </a:prstGeom>
          <a:solidFill>
            <a:srgbClr val="163E43"/>
          </a:solidFill>
          <a:ln w="12700">
            <a:solidFill>
              <a:srgbClr val="163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Bloco 2 titulo"/>
          <p:cNvSpPr txBox="1"/>
          <p:nvPr/>
        </p:nvSpPr>
        <p:spPr>
          <a:xfrm>
            <a:off x="3561588" y="2148840"/>
            <a:ext cx="2372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Jornada da empresa</a:t>
            </a:r>
            <a:endParaRPr lang="en-US" sz="1900" dirty="0"/>
          </a:p>
        </p:txBody>
      </p:sp>
      <p:sp>
        <p:nvSpPr>
          <p:cNvPr id="31" name="Bloco 2 texto"/>
          <p:cNvSpPr txBox="1"/>
          <p:nvPr/>
        </p:nvSpPr>
        <p:spPr>
          <a:xfrm>
            <a:off x="3561588" y="2542032"/>
            <a:ext cx="2327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interpretação, validação, correção e homologação</a:t>
            </a:r>
            <a:endParaRPr lang="en-US" sz="1350" dirty="0"/>
          </a:p>
        </p:txBody>
      </p:sp>
      <p:sp>
        <p:nvSpPr>
          <p:cNvPr id="32" name="Bloco 3"/>
          <p:cNvSpPr/>
          <p:nvPr/>
        </p:nvSpPr>
        <p:spPr>
          <a:xfrm>
            <a:off x="6208776" y="2057400"/>
            <a:ext cx="2601468" cy="1097280"/>
          </a:xfrm>
          <a:prstGeom prst="roundRect">
            <a:avLst>
              <a:gd name="adj" fmla="val 5161"/>
            </a:avLst>
          </a:prstGeom>
          <a:solidFill>
            <a:srgbClr val="163E43"/>
          </a:solidFill>
          <a:ln w="12700">
            <a:solidFill>
              <a:srgbClr val="163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Bloco 3 titulo"/>
          <p:cNvSpPr txBox="1"/>
          <p:nvPr/>
        </p:nvSpPr>
        <p:spPr>
          <a:xfrm>
            <a:off x="6391656" y="2148840"/>
            <a:ext cx="2372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Inteligência do banco</a:t>
            </a:r>
            <a:endParaRPr lang="en-US" sz="1900" dirty="0"/>
          </a:p>
        </p:txBody>
      </p:sp>
      <p:sp>
        <p:nvSpPr>
          <p:cNvPr id="34" name="Bloco 3 texto"/>
          <p:cNvSpPr txBox="1"/>
          <p:nvPr/>
        </p:nvSpPr>
        <p:spPr>
          <a:xfrm>
            <a:off x="6391656" y="2542032"/>
            <a:ext cx="2327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Planejamento, contas abertas, Endomarketing e telemetria</a:t>
            </a:r>
            <a:endParaRPr lang="en-US" sz="1350" dirty="0"/>
          </a:p>
        </p:txBody>
      </p:sp>
      <p:sp>
        <p:nvSpPr>
          <p:cNvPr id="35" name="Bloco 4"/>
          <p:cNvSpPr/>
          <p:nvPr/>
        </p:nvSpPr>
        <p:spPr>
          <a:xfrm>
            <a:off x="9038844" y="2057400"/>
            <a:ext cx="2601468" cy="1097280"/>
          </a:xfrm>
          <a:prstGeom prst="roundRect">
            <a:avLst>
              <a:gd name="adj" fmla="val 5161"/>
            </a:avLst>
          </a:prstGeom>
          <a:solidFill>
            <a:srgbClr val="163E43"/>
          </a:solidFill>
          <a:ln w="12700">
            <a:solidFill>
              <a:srgbClr val="163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Bloco 4 titulo"/>
          <p:cNvSpPr txBox="1"/>
          <p:nvPr/>
        </p:nvSpPr>
        <p:spPr>
          <a:xfrm>
            <a:off x="9221724" y="2148840"/>
            <a:ext cx="23728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Prova</a:t>
            </a:r>
            <a:endParaRPr lang="en-US" sz="1900" dirty="0"/>
          </a:p>
        </p:txBody>
      </p:sp>
      <p:sp>
        <p:nvSpPr>
          <p:cNvPr id="37" name="Bloco 4 texto"/>
          <p:cNvSpPr txBox="1"/>
          <p:nvPr/>
        </p:nvSpPr>
        <p:spPr>
          <a:xfrm>
            <a:off x="9221724" y="2542032"/>
            <a:ext cx="23271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B0–B4, guardrails, publicação e ensaio</a:t>
            </a:r>
            <a:endParaRPr lang="en-US" sz="1350" dirty="0"/>
          </a:p>
        </p:txBody>
      </p:sp>
      <p:sp>
        <p:nvSpPr>
          <p:cNvPr id="38" name="Secao banco"/>
          <p:cNvSpPr txBox="1"/>
          <p:nvPr/>
        </p:nvSpPr>
        <p:spPr>
          <a:xfrm>
            <a:off x="548640" y="3429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7F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CHEGA AO BANCO · CADA ETAPA E O SEU DESAFIO</a:t>
            </a:r>
            <a:endParaRPr lang="en-US" sz="1300" dirty="0"/>
          </a:p>
        </p:txBody>
      </p:sp>
      <p:sp>
        <p:nvSpPr>
          <p:cNvPr id="39" name="Etapa 1"/>
          <p:cNvSpPr/>
          <p:nvPr/>
        </p:nvSpPr>
        <p:spPr>
          <a:xfrm>
            <a:off x="548640" y="3749039"/>
            <a:ext cx="2072030" cy="1783080"/>
          </a:xfrm>
          <a:prstGeom prst="roundRect">
            <a:avLst>
              <a:gd name="adj" fmla="val 5161"/>
            </a:avLst>
          </a:prstGeom>
          <a:solidFill>
            <a:srgbClr val="163E43"/>
          </a:solidFill>
          <a:ln w="12700">
            <a:solidFill>
              <a:srgbClr val="163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Etapa 1 titulo"/>
          <p:cNvSpPr txBox="1"/>
          <p:nvPr/>
        </p:nvSpPr>
        <p:spPr>
          <a:xfrm>
            <a:off x="731520" y="3840480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MVP</a:t>
            </a:r>
            <a:endParaRPr lang="en-US" sz="1900" dirty="0"/>
          </a:p>
        </p:txBody>
      </p:sp>
      <p:sp>
        <p:nvSpPr>
          <p:cNvPr id="41" name="Etapa 1 texto"/>
          <p:cNvSpPr txBox="1"/>
          <p:nvPr/>
        </p:nvSpPr>
        <p:spPr>
          <a:xfrm>
            <a:off x="731520" y="4224528"/>
            <a:ext cx="179771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publicada com dados sintéticos.</a:t>
            </a:r>
            <a:endParaRPr lang="en-US" sz="1350" dirty="0"/>
          </a:p>
          <a:p>
            <a:pPr marL="0" indent="0">
              <a:buNone/>
            </a:pPr>
            <a:r>
              <a:rPr lang="en-US" sz="1150" b="1" dirty="0">
                <a:solidFill>
                  <a:srgbClr val="B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Provar valor com evidência medida</a:t>
            </a:r>
            <a:endParaRPr lang="en-US" sz="1350" dirty="0"/>
          </a:p>
        </p:txBody>
      </p:sp>
      <p:sp>
        <p:nvSpPr>
          <p:cNvPr id="42" name="Etapa 2"/>
          <p:cNvSpPr/>
          <p:nvPr/>
        </p:nvSpPr>
        <p:spPr>
          <a:xfrm>
            <a:off x="2803550" y="3749039"/>
            <a:ext cx="2072030" cy="1783080"/>
          </a:xfrm>
          <a:prstGeom prst="roundRect">
            <a:avLst>
              <a:gd name="adj" fmla="val 5161"/>
            </a:avLst>
          </a:prstGeom>
          <a:solidFill>
            <a:srgbClr val="163E43"/>
          </a:solidFill>
          <a:ln w="12700">
            <a:solidFill>
              <a:srgbClr val="163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Etapa 2 titulo"/>
          <p:cNvSpPr txBox="1"/>
          <p:nvPr/>
        </p:nvSpPr>
        <p:spPr>
          <a:xfrm>
            <a:off x="2986430" y="3840480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Piloto</a:t>
            </a:r>
            <a:endParaRPr lang="en-US" sz="1900" dirty="0"/>
          </a:p>
        </p:txBody>
      </p:sp>
      <p:sp>
        <p:nvSpPr>
          <p:cNvPr id="44" name="Etapa 2 texto"/>
          <p:cNvSpPr txBox="1"/>
          <p:nvPr/>
        </p:nvSpPr>
        <p:spPr>
          <a:xfrm>
            <a:off x="2986430" y="4224528"/>
            <a:ext cx="179771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reais, em grupo controlado.</a:t>
            </a:r>
            <a:endParaRPr lang="en-US" sz="1350" dirty="0"/>
          </a:p>
          <a:p>
            <a:pPr marL="0" indent="0">
              <a:buNone/>
            </a:pPr>
            <a:r>
              <a:rPr lang="en-US" sz="1150" b="1" dirty="0">
                <a:solidFill>
                  <a:srgbClr val="B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Adoção pelas empresas; medir a desistência</a:t>
            </a:r>
            <a:endParaRPr lang="en-US" sz="1350" dirty="0"/>
          </a:p>
        </p:txBody>
      </p:sp>
      <p:sp>
        <p:nvSpPr>
          <p:cNvPr id="45" name="Etapa 3"/>
          <p:cNvSpPr/>
          <p:nvPr/>
        </p:nvSpPr>
        <p:spPr>
          <a:xfrm>
            <a:off x="5058460" y="3749039"/>
            <a:ext cx="2072030" cy="1783080"/>
          </a:xfrm>
          <a:prstGeom prst="roundRect">
            <a:avLst>
              <a:gd name="adj" fmla="val 5161"/>
            </a:avLst>
          </a:prstGeom>
          <a:solidFill>
            <a:srgbClr val="163E43"/>
          </a:solidFill>
          <a:ln w="12700">
            <a:solidFill>
              <a:srgbClr val="163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Etapa 3 titulo"/>
          <p:cNvSpPr txBox="1"/>
          <p:nvPr/>
        </p:nvSpPr>
        <p:spPr>
          <a:xfrm>
            <a:off x="5241340" y="3840480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Integração</a:t>
            </a:r>
            <a:endParaRPr lang="en-US" sz="1900" dirty="0"/>
          </a:p>
        </p:txBody>
      </p:sp>
      <p:sp>
        <p:nvSpPr>
          <p:cNvPr id="47" name="Etapa 3 texto"/>
          <p:cNvSpPr txBox="1"/>
          <p:nvPr/>
        </p:nvSpPr>
        <p:spPr>
          <a:xfrm>
            <a:off x="5241340" y="4224528"/>
            <a:ext cx="179771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Esteira de folha, cadastro e layouts oficiais.</a:t>
            </a:r>
            <a:endParaRPr lang="en-US" sz="1350" dirty="0"/>
          </a:p>
          <a:p>
            <a:pPr marL="0" indent="0">
              <a:buNone/>
            </a:pPr>
            <a:r>
              <a:rPr lang="en-US" sz="1150" b="1" dirty="0">
                <a:solidFill>
                  <a:srgbClr val="B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Sistemas legados do banco</a:t>
            </a:r>
            <a:endParaRPr lang="en-US" sz="1350" dirty="0"/>
          </a:p>
        </p:txBody>
      </p:sp>
      <p:sp>
        <p:nvSpPr>
          <p:cNvPr id="48" name="Etapa 4"/>
          <p:cNvSpPr/>
          <p:nvPr/>
        </p:nvSpPr>
        <p:spPr>
          <a:xfrm>
            <a:off x="7313371" y="3749039"/>
            <a:ext cx="2072030" cy="1783080"/>
          </a:xfrm>
          <a:prstGeom prst="roundRect">
            <a:avLst>
              <a:gd name="adj" fmla="val 5161"/>
            </a:avLst>
          </a:prstGeom>
          <a:solidFill>
            <a:srgbClr val="163E43"/>
          </a:solidFill>
          <a:ln w="12700">
            <a:solidFill>
              <a:srgbClr val="163E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Etapa 4 titulo"/>
          <p:cNvSpPr txBox="1"/>
          <p:nvPr/>
        </p:nvSpPr>
        <p:spPr>
          <a:xfrm>
            <a:off x="7496251" y="3840480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Produção segura</a:t>
            </a:r>
            <a:endParaRPr lang="en-US" sz="1900" dirty="0"/>
          </a:p>
        </p:txBody>
      </p:sp>
      <p:sp>
        <p:nvSpPr>
          <p:cNvPr id="50" name="Etapa 4 texto"/>
          <p:cNvSpPr txBox="1"/>
          <p:nvPr/>
        </p:nvSpPr>
        <p:spPr>
          <a:xfrm>
            <a:off x="7496251" y="4224528"/>
            <a:ext cx="179771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nuvem do banco e retenção zero ativa.</a:t>
            </a:r>
            <a:endParaRPr lang="en-US" sz="1350" dirty="0"/>
          </a:p>
          <a:p>
            <a:pPr marL="0" indent="0">
              <a:buNone/>
            </a:pPr>
            <a:r>
              <a:rPr lang="en-US" sz="1150" b="1" dirty="0">
                <a:solidFill>
                  <a:srgbClr val="B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Aprovar a IA e as finalidades no jurídico</a:t>
            </a:r>
            <a:endParaRPr lang="en-US" sz="1350" dirty="0"/>
          </a:p>
        </p:txBody>
      </p:sp>
      <p:sp>
        <p:nvSpPr>
          <p:cNvPr id="51" name="Etapa 5"/>
          <p:cNvSpPr/>
          <p:nvPr/>
        </p:nvSpPr>
        <p:spPr>
          <a:xfrm>
            <a:off x="9568281" y="3749039"/>
            <a:ext cx="2072030" cy="1783080"/>
          </a:xfrm>
          <a:prstGeom prst="roundRect">
            <a:avLst>
              <a:gd name="adj" fmla="val 5161"/>
            </a:avLst>
          </a:prstGeom>
          <a:solidFill>
            <a:srgbClr val="163E43"/>
          </a:solidFill>
          <a:ln w="12700">
            <a:solidFill>
              <a:srgbClr val="163E4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Etapa 5 titulo"/>
          <p:cNvSpPr txBox="1"/>
          <p:nvPr/>
        </p:nvSpPr>
        <p:spPr>
          <a:xfrm>
            <a:off x="9751161" y="3840480"/>
            <a:ext cx="17977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Evolução</a:t>
            </a:r>
            <a:endParaRPr lang="en-US" sz="1900" dirty="0"/>
          </a:p>
        </p:txBody>
      </p:sp>
      <p:sp>
        <p:nvSpPr>
          <p:cNvPr id="53" name="Etapa 5 texto"/>
          <p:cNvSpPr txBox="1"/>
          <p:nvPr/>
        </p:nvSpPr>
        <p:spPr>
          <a:xfrm>
            <a:off x="9751161" y="4224528"/>
            <a:ext cx="179771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com correções homologadas.</a:t>
            </a:r>
            <a:endParaRPr lang="en-US" sz="1350" dirty="0"/>
          </a:p>
          <a:p>
            <a:pPr marL="0" indent="0">
              <a:buNone/>
            </a:pPr>
            <a:r>
              <a:rPr lang="en-US" sz="1150" b="1" dirty="0">
                <a:solidFill>
                  <a:srgbClr val="BF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Governança contínua dos modelos</a:t>
            </a:r>
            <a:endParaRPr lang="en-US" sz="1350" dirty="0"/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CFE3DF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CFE3DF"/>
                </a:solidFill>
                <a:latin typeface="Calibri"/>
              </a:rPr>
              <a:t>40</a:t>
            </a:r>
          </a:p>
        </p:txBody>
      </p:sp>
      <p:sp>
        <p:nvSpPr>
          <p:cNvPr id="56" name="Rounded Rectangle 55">
            <a:hlinkClick r:id="rId3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57" name="Picture 56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58" name="Rounded Rectangle 57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2E9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59" name="Picture 58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 ·  ESCOPO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do MVP: jornada completa, dados sintéticos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583680" cy="3840480"/>
          </a:xfrm>
          <a:prstGeom prst="roundRect">
            <a:avLst>
              <a:gd name="adj" fmla="val 1905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86868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ESCOPO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48840"/>
            <a:ext cx="6035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Excel, CSV e Word: carga e inclusões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definido pelo banco num parâmetro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Interpretação dos campos com IA + RAG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e validação por regras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assistida e homologação humana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sem IA e Portal Interno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validação e Endomarketing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avaliado; Fine-Tuning só com volume alto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rastreabilidade e telemetria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06640" y="1600200"/>
            <a:ext cx="4233672" cy="3840480"/>
          </a:xfrm>
          <a:prstGeom prst="roundRect">
            <a:avLst>
              <a:gd name="adj" fmla="val 1905"/>
            </a:avLst>
          </a:prstGeom>
          <a:solidFill>
            <a:srgbClr val="F3F5F5"/>
          </a:solidFill>
          <a:ln w="12700">
            <a:solidFill>
              <a:srgbClr val="F3F5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77266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ESCOPO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26680" y="2148840"/>
            <a:ext cx="3703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de funcionários ou clientes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Desligamentos (o banco já detecta)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individuais e campanhas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do cliente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risco de renda (próximo passo)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400" dirty="0">
                <a:solidFill>
                  <a:srgbClr val="5E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bancária, SSO e produção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44348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 do case: Automação e Extração de Conhecimento. Objetivo: provar viabilidade técnica e o fluxo ponta a ponta, não reproduzir os sistemas do banco.</a:t>
            </a:r>
            <a:endParaRPr 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41</a:t>
            </a:r>
          </a:p>
        </p:txBody>
      </p:sp>
      <p:sp>
        <p:nvSpPr>
          <p:cNvPr id="15" name="Rounded Rectangle 14">
            <a:hlinkClick r:id="rId3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16" name="Picture 15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17" name="Rounded Rectangle 16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18" name="Picture 17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1B7A6E"/>
                </a:solidFill>
                <a:latin typeface="Calibri"/>
              </a:rPr>
              <a:t>ANEXO  ·  ADERÊNCIA AO ENUNCIADO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2A30"/>
                </a:solidFill>
                <a:latin typeface="Cambria"/>
              </a:rPr>
              <a:t>Cada requisito do enunciado, e onde ele está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1672" cy="48143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Requisito do enunciado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No deck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No repositório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0E2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Modelos de IA que resolvem a dor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slides 06 e 07; fichas 29 a 33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agents/ · docs/arquitetura.md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Prompts e orquestração, com respostas consistentes e controladas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slide 11; anexos 23 e 24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prompts/ · workflows/ · docs/prompts.md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Dados da empresa fictícia: produção, armazenamento e uso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slide 11; anexo 25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scripts/gerar_*.py · docs/dados.md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Estratégia (RAG, fine-tuning) e como avaliar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slides 10 e 11; anexos 22 e 26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docs/avaliacao.md · docs/experimentos.md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Arquitetura com agentes, decisões e trade-offs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slides 08 e 09; anexo 16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docs/arquitetura.md · docs/decisoes.md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Ética, privacidade e responsabilidade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slide 11; anexos 35, 36 e 37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docs/etica_privacidade.md · docs/seguranca.md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Projeto funcional, empacotado e reprodutível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slides 02 e 12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MANUAL_DE_INSTALACAO_E_ACESSO.md · Dockerfile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Documentação: case, execução, arquitetura, decisões e próximos passos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slides 03 a 13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README.md · docs/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Justificativa tecnológica, com exemplos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anexos 17 a 21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docs/decisoes.md (ADRs)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Plano de implementação, desafios e melhorias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slide 13; anexo 40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docs/proximos_passos.md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Escalável, segura e eficiente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slide 09; anexos 38 e 35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docs/hospedagem.md · publicacao/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33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2A30"/>
                          </a:solidFill>
                          <a:latin typeface="Calibri"/>
                        </a:rPr>
                        <a:t>Demonstração da solução em funcionamento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slide 12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A30"/>
                          </a:solidFill>
                          <a:latin typeface="Calibri"/>
                        </a:rPr>
                        <a:t>integrafolha.com.br</a:t>
                      </a:r>
                    </a:p>
                  </a:txBody>
                  <a:tcPr marT="27432" marB="27432" anchor="ctr">
                    <a:lnL w="6350" cap="flat" cmpd="sng" algn="ctr">
                      <a:solidFill>
                        <a:srgbClr val="D5E2DF"/>
                      </a:solidFill>
                    </a:lnL>
                    <a:lnR w="6350" cap="flat" cmpd="sng" algn="ctr">
                      <a:solidFill>
                        <a:srgbClr val="D5E2DF"/>
                      </a:solidFill>
                    </a:lnR>
                    <a:lnT w="6350" cap="flat" cmpd="sng" algn="ctr">
                      <a:solidFill>
                        <a:srgbClr val="D5E2DF"/>
                      </a:solidFill>
                    </a:lnT>
                    <a:lnB w="6350" cap="flat" cmpd="sng" algn="ctr">
                      <a:solidFill>
                        <a:srgbClr val="D5E2DF"/>
                      </a:solidFill>
                    </a:lnB>
                    <a:solidFill>
                      <a:srgbClr val="F3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7315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5E6B70"/>
                </a:solidFill>
                <a:latin typeface="Calibri"/>
              </a:rPr>
              <a:t>Integra Folha  ·  Case Data 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3112" y="6446520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5E6B70"/>
                </a:solidFill>
                <a:latin typeface="Calibri"/>
              </a:rPr>
              <a:t>42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917143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B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Índice</a:t>
            </a:r>
          </a:p>
        </p:txBody>
      </p:sp>
      <p:pic>
        <p:nvPicPr>
          <p:cNvPr id="8" name="Picture 7" descr="image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307969"/>
            <a:ext cx="152156" cy="152156"/>
          </a:xfrm>
          <a:prstGeom prst="rect">
            <a:avLst/>
          </a:prstGeom>
        </p:spPr>
      </p:pic>
      <p:sp>
        <p:nvSpPr>
          <p:cNvPr id="9" name="Rounded Rectangle 8">
            <a:hlinkClick r:id="" action="ppaction://hlinkshowjump?jump=lastslideviewed"/>
          </p:cNvPr>
          <p:cNvSpPr/>
          <p:nvPr/>
        </p:nvSpPr>
        <p:spPr>
          <a:xfrm>
            <a:off x="10451592" y="23774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0E2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      Voltar</a:t>
            </a:r>
          </a:p>
        </p:txBody>
      </p:sp>
      <p:pic>
        <p:nvPicPr>
          <p:cNvPr id="10" name="Picture 9" descr="voltar.png">
            <a:hlinkClick r:id="" action="ppaction://hlinkshowjump?jump=lastslideviewe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7896" y="307969"/>
            <a:ext cx="152156" cy="1521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13553</Words>
  <Application>Microsoft Office PowerPoint</Application>
  <PresentationFormat>Widescreen</PresentationFormat>
  <Paragraphs>1443</Paragraphs>
  <Slides>41</Slides>
  <Notes>41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7" baseType="lpstr">
      <vt:lpstr>Aptos</vt:lpstr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CASE_DATAMASTER_T705951_JOSIMARASILVA</dc:title>
  <dc:subject>Integra Folha: case da certificação de Engenharia de IA</dc:subject>
  <dc:creator/>
  <cp:keywords>Integra Folha; IA generativa; agentes; RAG; folha de pagamento</cp:keywords>
  <cp:lastModifiedBy>Josimara da Silva</cp:lastModifiedBy>
  <cp:revision>8</cp:revision>
  <dcterms:created xsi:type="dcterms:W3CDTF">2026-09-23T16:19:44Z</dcterms:created>
  <dcterms:modified xsi:type="dcterms:W3CDTF">2026-10-01T01:29:40Z</dcterms:modified>
</cp:coreProperties>
</file>